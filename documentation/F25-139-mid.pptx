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5"/>
  </p:notesMasterIdLst>
  <p:sldIdLst>
    <p:sldId id="256" r:id="rId2"/>
    <p:sldId id="268" r:id="rId3"/>
    <p:sldId id="257" r:id="rId4"/>
    <p:sldId id="258" r:id="rId5"/>
    <p:sldId id="260" r:id="rId6"/>
    <p:sldId id="262" r:id="rId7"/>
    <p:sldId id="266" r:id="rId8"/>
    <p:sldId id="267" r:id="rId9"/>
    <p:sldId id="259" r:id="rId10"/>
    <p:sldId id="263" r:id="rId11"/>
    <p:sldId id="264" r:id="rId12"/>
    <p:sldId id="265" r:id="rId13"/>
    <p:sldId id="269" r:id="rId14"/>
  </p:sldIdLst>
  <p:sldSz cx="18288000" cy="10287000"/>
  <p:notesSz cx="6858000" cy="9144000"/>
  <p:embeddedFontLst>
    <p:embeddedFont>
      <p:font typeface="Arial Black" panose="020B0A04020102020204" pitchFamily="34" charset="0"/>
      <p:bold r:id="rId16"/>
    </p:embeddedFont>
    <p:embeddedFont>
      <p:font typeface="Calibri" panose="020F0502020204030204" pitchFamily="34" charset="0"/>
      <p:regular r:id="rId17"/>
      <p:bold r:id="rId18"/>
      <p:italic r:id="rId19"/>
      <p:boldItalic r:id="rId20"/>
    </p:embeddedFont>
    <p:embeddedFont>
      <p:font typeface="Roboto" panose="02000000000000000000" pitchFamily="2" charset="0"/>
      <p:regular r:id="rId21"/>
      <p:bold r:id="rId22"/>
      <p:italic r:id="rId23"/>
      <p:boldItalic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BF1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75573" autoAdjust="0"/>
  </p:normalViewPr>
  <p:slideViewPr>
    <p:cSldViewPr>
      <p:cViewPr varScale="1">
        <p:scale>
          <a:sx n="43" d="100"/>
          <a:sy n="43" d="100"/>
        </p:scale>
        <p:origin x="1378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5">
  <dgm:title val=""/>
  <dgm:desc val=""/>
  <dgm:catLst>
    <dgm:cat type="accent3" pri="11500"/>
  </dgm:catLst>
  <dgm:styleLbl name="node0">
    <dgm:fillClrLst meth="cycle">
      <a:schemeClr val="accent3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alpha val="9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alpha val="90000"/>
      </a:schemeClr>
      <a:schemeClr val="accent3">
        <a:alpha val="5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/>
    <dgm:txEffectClrLst/>
  </dgm:styleLbl>
  <dgm:styleLbl name="lnNode1">
    <dgm:fillClrLst>
      <a:schemeClr val="accent3">
        <a:shade val="90000"/>
      </a:schemeClr>
      <a:schemeClr val="accent3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  <a:alpha val="90000"/>
      </a:schemeClr>
      <a:schemeClr val="accent3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bg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sibTrans1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alpha val="90000"/>
        <a:tint val="40000"/>
      </a:schemeClr>
      <a:schemeClr val="accent3">
        <a:alpha val="5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E6E53A4-4AC6-4F1D-965F-F5A73A478D7B}" type="doc">
      <dgm:prSet loTypeId="urn:microsoft.com/office/officeart/2005/8/layout/chevron2" loCatId="process" qsTypeId="urn:microsoft.com/office/officeart/2005/8/quickstyle/simple1" qsCatId="simple" csTypeId="urn:microsoft.com/office/officeart/2005/8/colors/accent3_5" csCatId="accent3" phldr="1"/>
      <dgm:spPr/>
      <dgm:t>
        <a:bodyPr/>
        <a:lstStyle/>
        <a:p>
          <a:endParaRPr lang="en-US"/>
        </a:p>
      </dgm:t>
    </dgm:pt>
    <dgm:pt modelId="{0C2DE689-DA0C-425F-893D-E317B87B3EF1}">
      <dgm:prSet phldrT="[Text]"/>
      <dgm:spPr>
        <a:ln>
          <a:solidFill>
            <a:schemeClr val="bg1">
              <a:alpha val="90000"/>
            </a:schemeClr>
          </a:solidFill>
        </a:ln>
      </dgm:spPr>
      <dgm:t>
        <a:bodyPr/>
        <a:lstStyle/>
        <a:p>
          <a:r>
            <a:rPr lang="en-US" dirty="0"/>
            <a:t>Phase 1</a:t>
          </a:r>
        </a:p>
      </dgm:t>
    </dgm:pt>
    <dgm:pt modelId="{056B8E14-1FFD-43F9-99E0-F45F938A3EA2}" type="parTrans" cxnId="{DFE6536E-F293-404C-B7C6-97C58D71345D}">
      <dgm:prSet/>
      <dgm:spPr/>
      <dgm:t>
        <a:bodyPr/>
        <a:lstStyle/>
        <a:p>
          <a:endParaRPr lang="en-US"/>
        </a:p>
      </dgm:t>
    </dgm:pt>
    <dgm:pt modelId="{CB5E93B2-1A13-467B-9CC4-8C4ED73EE8F2}" type="sibTrans" cxnId="{DFE6536E-F293-404C-B7C6-97C58D71345D}">
      <dgm:prSet/>
      <dgm:spPr/>
      <dgm:t>
        <a:bodyPr/>
        <a:lstStyle/>
        <a:p>
          <a:endParaRPr lang="en-US"/>
        </a:p>
      </dgm:t>
    </dgm:pt>
    <dgm:pt modelId="{5D3533B9-D474-4C58-AA8C-C1B283C6F16C}">
      <dgm:prSet phldrT="[Text]"/>
      <dgm:spPr>
        <a:ln>
          <a:solidFill>
            <a:schemeClr val="bg1">
              <a:alpha val="83333"/>
            </a:schemeClr>
          </a:solidFill>
        </a:ln>
      </dgm:spPr>
      <dgm:t>
        <a:bodyPr/>
        <a:lstStyle/>
        <a:p>
          <a:r>
            <a:rPr lang="en-US" dirty="0"/>
            <a:t>Phase 2</a:t>
          </a:r>
        </a:p>
      </dgm:t>
    </dgm:pt>
    <dgm:pt modelId="{AA1D6BF3-237C-4445-A03F-95D10793E058}" type="parTrans" cxnId="{75A0A6AE-8F47-4A5A-A8C2-CC6FBC3310A2}">
      <dgm:prSet/>
      <dgm:spPr/>
      <dgm:t>
        <a:bodyPr/>
        <a:lstStyle/>
        <a:p>
          <a:endParaRPr lang="en-US"/>
        </a:p>
      </dgm:t>
    </dgm:pt>
    <dgm:pt modelId="{09ADE8F3-52D0-408B-BBC2-15339085F18A}" type="sibTrans" cxnId="{75A0A6AE-8F47-4A5A-A8C2-CC6FBC3310A2}">
      <dgm:prSet/>
      <dgm:spPr/>
      <dgm:t>
        <a:bodyPr/>
        <a:lstStyle/>
        <a:p>
          <a:endParaRPr lang="en-US"/>
        </a:p>
      </dgm:t>
    </dgm:pt>
    <dgm:pt modelId="{E44F1F51-A046-4DF3-B88F-B98305B6BAAA}">
      <dgm:prSet phldrT="[Text]" custT="1"/>
      <dgm:spPr/>
      <dgm:t>
        <a:bodyPr/>
        <a:lstStyle/>
        <a:p>
          <a:r>
            <a:rPr lang="en-US" sz="3400" dirty="0">
              <a:ea typeface="Roboto"/>
              <a:cs typeface="Roboto"/>
              <a:sym typeface="Roboto"/>
            </a:rPr>
            <a:t>Debate mechanism, agents argue and refine diagnoses collaboratively</a:t>
          </a:r>
          <a:endParaRPr lang="en-US" sz="3400" dirty="0"/>
        </a:p>
      </dgm:t>
    </dgm:pt>
    <dgm:pt modelId="{176A0736-99FD-469E-BA91-E529CB10C3D2}" type="parTrans" cxnId="{FB06405D-53FC-43BB-887D-1E83B414B45B}">
      <dgm:prSet/>
      <dgm:spPr/>
      <dgm:t>
        <a:bodyPr/>
        <a:lstStyle/>
        <a:p>
          <a:endParaRPr lang="en-US"/>
        </a:p>
      </dgm:t>
    </dgm:pt>
    <dgm:pt modelId="{A8C0768A-AB45-4344-A4B5-B81E7B762CC2}" type="sibTrans" cxnId="{FB06405D-53FC-43BB-887D-1E83B414B45B}">
      <dgm:prSet/>
      <dgm:spPr/>
      <dgm:t>
        <a:bodyPr/>
        <a:lstStyle/>
        <a:p>
          <a:endParaRPr lang="en-US"/>
        </a:p>
      </dgm:t>
    </dgm:pt>
    <dgm:pt modelId="{BA2E368A-626B-40EB-B466-7D4D6D39822F}">
      <dgm:prSet phldrT="[Text]"/>
      <dgm:spPr>
        <a:ln>
          <a:solidFill>
            <a:schemeClr val="bg1">
              <a:alpha val="76667"/>
            </a:schemeClr>
          </a:solidFill>
        </a:ln>
      </dgm:spPr>
      <dgm:t>
        <a:bodyPr/>
        <a:lstStyle/>
        <a:p>
          <a:r>
            <a:rPr lang="en-US" dirty="0"/>
            <a:t>Phase 3</a:t>
          </a:r>
        </a:p>
      </dgm:t>
    </dgm:pt>
    <dgm:pt modelId="{D573AF74-F435-4D85-838B-0A9C0CCC56A8}" type="parTrans" cxnId="{B8146EDB-78D0-4041-A822-617819B0BBCD}">
      <dgm:prSet/>
      <dgm:spPr/>
      <dgm:t>
        <a:bodyPr/>
        <a:lstStyle/>
        <a:p>
          <a:endParaRPr lang="en-US"/>
        </a:p>
      </dgm:t>
    </dgm:pt>
    <dgm:pt modelId="{20AF930F-8A92-4EFD-B12D-CF9219C54839}" type="sibTrans" cxnId="{B8146EDB-78D0-4041-A822-617819B0BBCD}">
      <dgm:prSet/>
      <dgm:spPr/>
      <dgm:t>
        <a:bodyPr/>
        <a:lstStyle/>
        <a:p>
          <a:endParaRPr lang="en-US"/>
        </a:p>
      </dgm:t>
    </dgm:pt>
    <dgm:pt modelId="{B76FF61D-9364-4A2A-803B-AC182FB5F0B0}">
      <dgm:prSet phldrT="[Text]" custT="1"/>
      <dgm:spPr/>
      <dgm:t>
        <a:bodyPr/>
        <a:lstStyle/>
        <a:p>
          <a:r>
            <a:rPr lang="en-US" sz="3400" dirty="0">
              <a:ea typeface="Roboto"/>
              <a:cs typeface="Roboto"/>
              <a:sym typeface="Roboto"/>
            </a:rPr>
            <a:t>Consensus mechanism for final diagnosis</a:t>
          </a:r>
          <a:endParaRPr lang="en-US" sz="3400" dirty="0"/>
        </a:p>
      </dgm:t>
    </dgm:pt>
    <dgm:pt modelId="{10850E41-3EE3-4CE1-9947-0C781ABCD497}" type="parTrans" cxnId="{9C79996E-FDFA-4C3F-A452-A4DFE3477BA0}">
      <dgm:prSet/>
      <dgm:spPr/>
      <dgm:t>
        <a:bodyPr/>
        <a:lstStyle/>
        <a:p>
          <a:endParaRPr lang="en-US"/>
        </a:p>
      </dgm:t>
    </dgm:pt>
    <dgm:pt modelId="{DF65916C-71B7-4258-8BC6-1156725BEC0C}" type="sibTrans" cxnId="{9C79996E-FDFA-4C3F-A452-A4DFE3477BA0}">
      <dgm:prSet/>
      <dgm:spPr/>
      <dgm:t>
        <a:bodyPr/>
        <a:lstStyle/>
        <a:p>
          <a:endParaRPr lang="en-US"/>
        </a:p>
      </dgm:t>
    </dgm:pt>
    <dgm:pt modelId="{F77E9086-BA8F-4BE9-9B35-38F2EBCF28FB}">
      <dgm:prSet phldrT="[Text]"/>
      <dgm:spPr>
        <a:ln>
          <a:solidFill>
            <a:schemeClr val="bg1">
              <a:alpha val="70000"/>
            </a:schemeClr>
          </a:solidFill>
        </a:ln>
      </dgm:spPr>
      <dgm:t>
        <a:bodyPr/>
        <a:lstStyle/>
        <a:p>
          <a:r>
            <a:rPr lang="en-US" dirty="0"/>
            <a:t>Phase 4</a:t>
          </a:r>
        </a:p>
      </dgm:t>
    </dgm:pt>
    <dgm:pt modelId="{40413CB3-BA1D-42A3-9864-E86CF33D1BB5}" type="parTrans" cxnId="{42FC4399-60EC-4E07-B1A1-CCD7DB0378A4}">
      <dgm:prSet/>
      <dgm:spPr/>
      <dgm:t>
        <a:bodyPr/>
        <a:lstStyle/>
        <a:p>
          <a:endParaRPr lang="en-US"/>
        </a:p>
      </dgm:t>
    </dgm:pt>
    <dgm:pt modelId="{5F89C2BF-1CB6-4AF3-8F7B-0CC36704DFC0}" type="sibTrans" cxnId="{42FC4399-60EC-4E07-B1A1-CCD7DB0378A4}">
      <dgm:prSet/>
      <dgm:spPr/>
      <dgm:t>
        <a:bodyPr/>
        <a:lstStyle/>
        <a:p>
          <a:endParaRPr lang="en-US"/>
        </a:p>
      </dgm:t>
    </dgm:pt>
    <dgm:pt modelId="{8A95AD47-8F9C-4BF9-B47D-D12CB4D38E0D}">
      <dgm:prSet phldrT="[Text]" custT="1"/>
      <dgm:spPr/>
      <dgm:t>
        <a:bodyPr/>
        <a:lstStyle/>
        <a:p>
          <a:r>
            <a:rPr lang="en-US" sz="3400" dirty="0">
              <a:ea typeface="Roboto"/>
              <a:cs typeface="Roboto"/>
              <a:sym typeface="Roboto"/>
            </a:rPr>
            <a:t>Build knowledge base for RAG integration</a:t>
          </a:r>
          <a:endParaRPr lang="en-US" sz="3400" dirty="0"/>
        </a:p>
      </dgm:t>
    </dgm:pt>
    <dgm:pt modelId="{E1BCBFE4-4D40-49BE-B78B-AE9ED03235F2}" type="parTrans" cxnId="{DDBC1963-34EE-44F3-B595-FB4D1C4D9201}">
      <dgm:prSet/>
      <dgm:spPr/>
      <dgm:t>
        <a:bodyPr/>
        <a:lstStyle/>
        <a:p>
          <a:endParaRPr lang="en-US"/>
        </a:p>
      </dgm:t>
    </dgm:pt>
    <dgm:pt modelId="{91303F4F-1ED8-4A55-AB64-BBCF346B322A}" type="sibTrans" cxnId="{DDBC1963-34EE-44F3-B595-FB4D1C4D9201}">
      <dgm:prSet/>
      <dgm:spPr/>
      <dgm:t>
        <a:bodyPr/>
        <a:lstStyle/>
        <a:p>
          <a:endParaRPr lang="en-US"/>
        </a:p>
      </dgm:t>
    </dgm:pt>
    <dgm:pt modelId="{5EA58718-CD11-44A2-B106-7C54B2831347}">
      <dgm:prSet phldrT="[Text]"/>
      <dgm:spPr>
        <a:ln>
          <a:solidFill>
            <a:schemeClr val="bg1">
              <a:alpha val="63333"/>
            </a:schemeClr>
          </a:solidFill>
        </a:ln>
      </dgm:spPr>
      <dgm:t>
        <a:bodyPr/>
        <a:lstStyle/>
        <a:p>
          <a:r>
            <a:rPr lang="en-US" dirty="0"/>
            <a:t>Phase 5</a:t>
          </a:r>
        </a:p>
      </dgm:t>
    </dgm:pt>
    <dgm:pt modelId="{C31DD0B1-D682-4039-82B2-ED362DCBB9DA}" type="parTrans" cxnId="{4807D94F-6490-4ECA-B31D-47413D8961C9}">
      <dgm:prSet/>
      <dgm:spPr/>
      <dgm:t>
        <a:bodyPr/>
        <a:lstStyle/>
        <a:p>
          <a:endParaRPr lang="en-US"/>
        </a:p>
      </dgm:t>
    </dgm:pt>
    <dgm:pt modelId="{46FFCC47-9A35-4E1A-BD09-6B7846AD85C5}" type="sibTrans" cxnId="{4807D94F-6490-4ECA-B31D-47413D8961C9}">
      <dgm:prSet/>
      <dgm:spPr/>
      <dgm:t>
        <a:bodyPr/>
        <a:lstStyle/>
        <a:p>
          <a:endParaRPr lang="en-US"/>
        </a:p>
      </dgm:t>
    </dgm:pt>
    <dgm:pt modelId="{50AC5585-F74D-4C2F-BFF3-31BF27FAACBB}">
      <dgm:prSet phldrT="[Text]" custT="1"/>
      <dgm:spPr/>
      <dgm:t>
        <a:bodyPr/>
        <a:lstStyle/>
        <a:p>
          <a:r>
            <a:rPr lang="en-US" sz="3400" dirty="0">
              <a:ea typeface="Roboto"/>
              <a:cs typeface="Roboto"/>
              <a:sym typeface="Roboto"/>
            </a:rPr>
            <a:t>Test RAG and optimize pipeline</a:t>
          </a:r>
          <a:endParaRPr lang="en-US" sz="3400" dirty="0"/>
        </a:p>
      </dgm:t>
    </dgm:pt>
    <dgm:pt modelId="{CB8ED76B-042E-4E96-A52D-CA829796768D}" type="parTrans" cxnId="{DE8AEB0A-0000-4D99-8659-E3056F84E84E}">
      <dgm:prSet/>
      <dgm:spPr/>
      <dgm:t>
        <a:bodyPr/>
        <a:lstStyle/>
        <a:p>
          <a:endParaRPr lang="en-US"/>
        </a:p>
      </dgm:t>
    </dgm:pt>
    <dgm:pt modelId="{DFF97FEB-F263-40E1-82C0-36195B9CD7EC}" type="sibTrans" cxnId="{DE8AEB0A-0000-4D99-8659-E3056F84E84E}">
      <dgm:prSet/>
      <dgm:spPr/>
      <dgm:t>
        <a:bodyPr/>
        <a:lstStyle/>
        <a:p>
          <a:endParaRPr lang="en-US"/>
        </a:p>
      </dgm:t>
    </dgm:pt>
    <dgm:pt modelId="{2870A813-737A-42F8-A623-B36B757A6BDC}">
      <dgm:prSet phldrT="[Text]"/>
      <dgm:spPr>
        <a:ln>
          <a:solidFill>
            <a:schemeClr val="bg1">
              <a:alpha val="56667"/>
            </a:schemeClr>
          </a:solidFill>
        </a:ln>
      </dgm:spPr>
      <dgm:t>
        <a:bodyPr/>
        <a:lstStyle/>
        <a:p>
          <a:r>
            <a:rPr lang="en-US" dirty="0"/>
            <a:t>Phase 6</a:t>
          </a:r>
        </a:p>
      </dgm:t>
    </dgm:pt>
    <dgm:pt modelId="{FC936F4A-D3A6-4379-83AC-A92A0C027AC2}" type="parTrans" cxnId="{923019AA-FB6C-4729-BB9D-58870D4EE79D}">
      <dgm:prSet/>
      <dgm:spPr/>
      <dgm:t>
        <a:bodyPr/>
        <a:lstStyle/>
        <a:p>
          <a:endParaRPr lang="en-US"/>
        </a:p>
      </dgm:t>
    </dgm:pt>
    <dgm:pt modelId="{FF6FD137-A737-48F5-B5DC-E82A4ADD09E8}" type="sibTrans" cxnId="{923019AA-FB6C-4729-BB9D-58870D4EE79D}">
      <dgm:prSet/>
      <dgm:spPr/>
      <dgm:t>
        <a:bodyPr/>
        <a:lstStyle/>
        <a:p>
          <a:endParaRPr lang="en-US"/>
        </a:p>
      </dgm:t>
    </dgm:pt>
    <dgm:pt modelId="{7367DB06-25A7-4CC7-A0A1-5BB8CB8A777D}">
      <dgm:prSet phldrT="[Text]" custT="1"/>
      <dgm:spPr/>
      <dgm:t>
        <a:bodyPr/>
        <a:lstStyle/>
        <a:p>
          <a:r>
            <a:rPr lang="en-US" sz="3400" dirty="0">
              <a:ea typeface="Roboto"/>
              <a:cs typeface="Roboto"/>
              <a:sym typeface="Roboto"/>
            </a:rPr>
            <a:t>Develop patient-facing web interface</a:t>
          </a:r>
          <a:endParaRPr lang="en-US" sz="3400" dirty="0"/>
        </a:p>
      </dgm:t>
    </dgm:pt>
    <dgm:pt modelId="{10F086BF-8076-4F34-A792-D65A158E2DD8}" type="parTrans" cxnId="{CA5AD31D-191E-4B5A-A2D6-D8503917DA69}">
      <dgm:prSet/>
      <dgm:spPr/>
      <dgm:t>
        <a:bodyPr/>
        <a:lstStyle/>
        <a:p>
          <a:endParaRPr lang="en-US"/>
        </a:p>
      </dgm:t>
    </dgm:pt>
    <dgm:pt modelId="{4E4D6E79-EBB3-4FBE-AA0F-5538E7F47CAA}" type="sibTrans" cxnId="{CA5AD31D-191E-4B5A-A2D6-D8503917DA69}">
      <dgm:prSet/>
      <dgm:spPr/>
      <dgm:t>
        <a:bodyPr/>
        <a:lstStyle/>
        <a:p>
          <a:endParaRPr lang="en-US"/>
        </a:p>
      </dgm:t>
    </dgm:pt>
    <dgm:pt modelId="{C56ADBA2-09E3-4CB4-AE86-EF249AA93825}">
      <dgm:prSet phldrT="[Text]"/>
      <dgm:spPr>
        <a:ln>
          <a:solidFill>
            <a:schemeClr val="bg1">
              <a:alpha val="50000"/>
            </a:schemeClr>
          </a:solidFill>
        </a:ln>
      </dgm:spPr>
      <dgm:t>
        <a:bodyPr/>
        <a:lstStyle/>
        <a:p>
          <a:r>
            <a:rPr lang="en-US" dirty="0"/>
            <a:t>Phase 7</a:t>
          </a:r>
        </a:p>
      </dgm:t>
    </dgm:pt>
    <dgm:pt modelId="{79FA3B2B-6812-4831-BF5A-4EB5F293BEC4}" type="parTrans" cxnId="{B8061C41-CA74-4310-8DD4-F63D78BE6CAD}">
      <dgm:prSet/>
      <dgm:spPr/>
      <dgm:t>
        <a:bodyPr/>
        <a:lstStyle/>
        <a:p>
          <a:endParaRPr lang="en-US"/>
        </a:p>
      </dgm:t>
    </dgm:pt>
    <dgm:pt modelId="{AAA071C0-D4BA-4112-BF93-3E979F204434}" type="sibTrans" cxnId="{B8061C41-CA74-4310-8DD4-F63D78BE6CAD}">
      <dgm:prSet/>
      <dgm:spPr/>
      <dgm:t>
        <a:bodyPr/>
        <a:lstStyle/>
        <a:p>
          <a:endParaRPr lang="en-US"/>
        </a:p>
      </dgm:t>
    </dgm:pt>
    <dgm:pt modelId="{75E3F64D-B8DE-4B68-A798-1CF1684962D1}">
      <dgm:prSet phldrT="[Text]" custT="1"/>
      <dgm:spPr/>
      <dgm:t>
        <a:bodyPr/>
        <a:lstStyle/>
        <a:p>
          <a:r>
            <a:rPr lang="en-US" sz="3400" dirty="0">
              <a:ea typeface="Roboto"/>
              <a:cs typeface="Roboto"/>
              <a:sym typeface="Roboto"/>
            </a:rPr>
            <a:t>Deployment and performance evaluation</a:t>
          </a:r>
          <a:endParaRPr lang="en-US" sz="3400" dirty="0"/>
        </a:p>
      </dgm:t>
    </dgm:pt>
    <dgm:pt modelId="{DA22E9B7-7706-4A69-A9C3-E0676FE90C38}" type="parTrans" cxnId="{AD1178EF-18F0-4BB3-A9A8-8333C67525A9}">
      <dgm:prSet/>
      <dgm:spPr/>
      <dgm:t>
        <a:bodyPr/>
        <a:lstStyle/>
        <a:p>
          <a:endParaRPr lang="en-US"/>
        </a:p>
      </dgm:t>
    </dgm:pt>
    <dgm:pt modelId="{B6C498FE-8AEA-4872-8F7D-8785095B35D6}" type="sibTrans" cxnId="{AD1178EF-18F0-4BB3-A9A8-8333C67525A9}">
      <dgm:prSet/>
      <dgm:spPr/>
      <dgm:t>
        <a:bodyPr/>
        <a:lstStyle/>
        <a:p>
          <a:endParaRPr lang="en-US"/>
        </a:p>
      </dgm:t>
    </dgm:pt>
    <dgm:pt modelId="{D364010B-C375-4CC9-BD2B-15431D988C31}">
      <dgm:prSet phldrT="[Text]" custT="1"/>
      <dgm:spPr/>
      <dgm:t>
        <a:bodyPr/>
        <a:lstStyle/>
        <a:p>
          <a:r>
            <a:rPr lang="en-US" sz="3400" dirty="0">
              <a:ea typeface="Roboto"/>
              <a:cs typeface="Roboto"/>
              <a:sym typeface="Roboto"/>
            </a:rPr>
            <a:t>Core specialist agents and orchestration pipeline</a:t>
          </a:r>
          <a:endParaRPr lang="en-US" sz="3400" dirty="0"/>
        </a:p>
      </dgm:t>
    </dgm:pt>
    <dgm:pt modelId="{69FAAEAB-3CC6-4EFF-B815-F8D9BD2AE723}" type="sibTrans" cxnId="{B4402B1C-4657-4F8D-BDC0-B34A47A88D08}">
      <dgm:prSet/>
      <dgm:spPr/>
      <dgm:t>
        <a:bodyPr/>
        <a:lstStyle/>
        <a:p>
          <a:endParaRPr lang="en-US"/>
        </a:p>
      </dgm:t>
    </dgm:pt>
    <dgm:pt modelId="{AC6F4250-CB37-442C-AE69-CEE182993B2E}" type="parTrans" cxnId="{B4402B1C-4657-4F8D-BDC0-B34A47A88D08}">
      <dgm:prSet/>
      <dgm:spPr/>
      <dgm:t>
        <a:bodyPr/>
        <a:lstStyle/>
        <a:p>
          <a:endParaRPr lang="en-US"/>
        </a:p>
      </dgm:t>
    </dgm:pt>
    <dgm:pt modelId="{C281402E-0FCD-43EA-9F39-AE13DC844B05}" type="pres">
      <dgm:prSet presAssocID="{BE6E53A4-4AC6-4F1D-965F-F5A73A478D7B}" presName="linearFlow" presStyleCnt="0">
        <dgm:presLayoutVars>
          <dgm:dir/>
          <dgm:animLvl val="lvl"/>
          <dgm:resizeHandles val="exact"/>
        </dgm:presLayoutVars>
      </dgm:prSet>
      <dgm:spPr/>
    </dgm:pt>
    <dgm:pt modelId="{DC684DE4-C832-4186-A916-E13C6BE60519}" type="pres">
      <dgm:prSet presAssocID="{0C2DE689-DA0C-425F-893D-E317B87B3EF1}" presName="composite" presStyleCnt="0"/>
      <dgm:spPr/>
    </dgm:pt>
    <dgm:pt modelId="{10BCEE24-0FEF-4F64-9F10-2CAD8FF8D17B}" type="pres">
      <dgm:prSet presAssocID="{0C2DE689-DA0C-425F-893D-E317B87B3EF1}" presName="parentText" presStyleLbl="alignNode1" presStyleIdx="0" presStyleCnt="7" custLinFactNeighborX="4070" custLinFactNeighborY="1645">
        <dgm:presLayoutVars>
          <dgm:chMax val="1"/>
          <dgm:bulletEnabled val="1"/>
        </dgm:presLayoutVars>
      </dgm:prSet>
      <dgm:spPr/>
    </dgm:pt>
    <dgm:pt modelId="{29FEE85A-A9AF-4B09-94A0-6ABF9979FF2E}" type="pres">
      <dgm:prSet presAssocID="{0C2DE689-DA0C-425F-893D-E317B87B3EF1}" presName="descendantText" presStyleLbl="alignAcc1" presStyleIdx="0" presStyleCnt="7" custLinFactNeighborX="1335" custLinFactNeighborY="2034">
        <dgm:presLayoutVars>
          <dgm:bulletEnabled val="1"/>
        </dgm:presLayoutVars>
      </dgm:prSet>
      <dgm:spPr/>
    </dgm:pt>
    <dgm:pt modelId="{8C149E65-13AF-4193-A847-1DA6D34ABF70}" type="pres">
      <dgm:prSet presAssocID="{CB5E93B2-1A13-467B-9CC4-8C4ED73EE8F2}" presName="sp" presStyleCnt="0"/>
      <dgm:spPr/>
    </dgm:pt>
    <dgm:pt modelId="{9D43B36D-49F6-422F-8463-6E8391B9E56F}" type="pres">
      <dgm:prSet presAssocID="{5D3533B9-D474-4C58-AA8C-C1B283C6F16C}" presName="composite" presStyleCnt="0"/>
      <dgm:spPr/>
    </dgm:pt>
    <dgm:pt modelId="{77F03047-A850-4C4A-BB95-DEF1831C17CB}" type="pres">
      <dgm:prSet presAssocID="{5D3533B9-D474-4C58-AA8C-C1B283C6F16C}" presName="parentText" presStyleLbl="alignNode1" presStyleIdx="1" presStyleCnt="7">
        <dgm:presLayoutVars>
          <dgm:chMax val="1"/>
          <dgm:bulletEnabled val="1"/>
        </dgm:presLayoutVars>
      </dgm:prSet>
      <dgm:spPr/>
    </dgm:pt>
    <dgm:pt modelId="{AA08D0B4-3F87-4FEE-A965-08C6C450DBFE}" type="pres">
      <dgm:prSet presAssocID="{5D3533B9-D474-4C58-AA8C-C1B283C6F16C}" presName="descendantText" presStyleLbl="alignAcc1" presStyleIdx="1" presStyleCnt="7" custLinFactNeighborX="135" custLinFactNeighborY="-2162">
        <dgm:presLayoutVars>
          <dgm:bulletEnabled val="1"/>
        </dgm:presLayoutVars>
      </dgm:prSet>
      <dgm:spPr/>
    </dgm:pt>
    <dgm:pt modelId="{971B6541-855E-49C4-8BF2-E778476B249A}" type="pres">
      <dgm:prSet presAssocID="{09ADE8F3-52D0-408B-BBC2-15339085F18A}" presName="sp" presStyleCnt="0"/>
      <dgm:spPr/>
    </dgm:pt>
    <dgm:pt modelId="{AAA1792A-24EA-4E7F-BC46-CA416BD80FA7}" type="pres">
      <dgm:prSet presAssocID="{BA2E368A-626B-40EB-B466-7D4D6D39822F}" presName="composite" presStyleCnt="0"/>
      <dgm:spPr/>
    </dgm:pt>
    <dgm:pt modelId="{6552C472-0E72-48ED-B34A-97BF2FF4CAEE}" type="pres">
      <dgm:prSet presAssocID="{BA2E368A-626B-40EB-B466-7D4D6D39822F}" presName="parentText" presStyleLbl="alignNode1" presStyleIdx="2" presStyleCnt="7">
        <dgm:presLayoutVars>
          <dgm:chMax val="1"/>
          <dgm:bulletEnabled val="1"/>
        </dgm:presLayoutVars>
      </dgm:prSet>
      <dgm:spPr/>
    </dgm:pt>
    <dgm:pt modelId="{9B15759E-34E6-4103-81FF-08CBB254629A}" type="pres">
      <dgm:prSet presAssocID="{BA2E368A-626B-40EB-B466-7D4D6D39822F}" presName="descendantText" presStyleLbl="alignAcc1" presStyleIdx="2" presStyleCnt="7">
        <dgm:presLayoutVars>
          <dgm:bulletEnabled val="1"/>
        </dgm:presLayoutVars>
      </dgm:prSet>
      <dgm:spPr/>
    </dgm:pt>
    <dgm:pt modelId="{3648BCCC-22E8-4CE4-8CCE-671EA2C6ED91}" type="pres">
      <dgm:prSet presAssocID="{20AF930F-8A92-4EFD-B12D-CF9219C54839}" presName="sp" presStyleCnt="0"/>
      <dgm:spPr/>
    </dgm:pt>
    <dgm:pt modelId="{E1F84B78-46C6-4D2E-87A8-DB55851C68BA}" type="pres">
      <dgm:prSet presAssocID="{F77E9086-BA8F-4BE9-9B35-38F2EBCF28FB}" presName="composite" presStyleCnt="0"/>
      <dgm:spPr/>
    </dgm:pt>
    <dgm:pt modelId="{FA64AF0F-22B2-41AA-8516-32D6019FD3F9}" type="pres">
      <dgm:prSet presAssocID="{F77E9086-BA8F-4BE9-9B35-38F2EBCF28FB}" presName="parentText" presStyleLbl="alignNode1" presStyleIdx="3" presStyleCnt="7">
        <dgm:presLayoutVars>
          <dgm:chMax val="1"/>
          <dgm:bulletEnabled val="1"/>
        </dgm:presLayoutVars>
      </dgm:prSet>
      <dgm:spPr/>
    </dgm:pt>
    <dgm:pt modelId="{F00BF0A3-E2B8-4CF4-9206-83C1DE6A1910}" type="pres">
      <dgm:prSet presAssocID="{F77E9086-BA8F-4BE9-9B35-38F2EBCF28FB}" presName="descendantText" presStyleLbl="alignAcc1" presStyleIdx="3" presStyleCnt="7">
        <dgm:presLayoutVars>
          <dgm:bulletEnabled val="1"/>
        </dgm:presLayoutVars>
      </dgm:prSet>
      <dgm:spPr/>
    </dgm:pt>
    <dgm:pt modelId="{3E16B274-0455-4E3F-BCA4-817ACBD33F42}" type="pres">
      <dgm:prSet presAssocID="{5F89C2BF-1CB6-4AF3-8F7B-0CC36704DFC0}" presName="sp" presStyleCnt="0"/>
      <dgm:spPr/>
    </dgm:pt>
    <dgm:pt modelId="{12C01443-F744-4975-AE37-5AAEC2AE3F4F}" type="pres">
      <dgm:prSet presAssocID="{5EA58718-CD11-44A2-B106-7C54B2831347}" presName="composite" presStyleCnt="0"/>
      <dgm:spPr/>
    </dgm:pt>
    <dgm:pt modelId="{2219DFE7-4838-4B5C-8559-894A7EB78DA1}" type="pres">
      <dgm:prSet presAssocID="{5EA58718-CD11-44A2-B106-7C54B2831347}" presName="parentText" presStyleLbl="alignNode1" presStyleIdx="4" presStyleCnt="7" custLinFactNeighborX="-1612" custLinFactNeighborY="-258">
        <dgm:presLayoutVars>
          <dgm:chMax val="1"/>
          <dgm:bulletEnabled val="1"/>
        </dgm:presLayoutVars>
      </dgm:prSet>
      <dgm:spPr/>
    </dgm:pt>
    <dgm:pt modelId="{AD4A651D-327B-438E-97CC-223892FD0585}" type="pres">
      <dgm:prSet presAssocID="{5EA58718-CD11-44A2-B106-7C54B2831347}" presName="descendantText" presStyleLbl="alignAcc1" presStyleIdx="4" presStyleCnt="7">
        <dgm:presLayoutVars>
          <dgm:bulletEnabled val="1"/>
        </dgm:presLayoutVars>
      </dgm:prSet>
      <dgm:spPr/>
    </dgm:pt>
    <dgm:pt modelId="{462C9943-FB3F-4A9B-BA59-0A767789C3BE}" type="pres">
      <dgm:prSet presAssocID="{46FFCC47-9A35-4E1A-BD09-6B7846AD85C5}" presName="sp" presStyleCnt="0"/>
      <dgm:spPr/>
    </dgm:pt>
    <dgm:pt modelId="{AFA8D34A-89F8-4183-980C-8495E787D5D9}" type="pres">
      <dgm:prSet presAssocID="{2870A813-737A-42F8-A623-B36B757A6BDC}" presName="composite" presStyleCnt="0"/>
      <dgm:spPr/>
    </dgm:pt>
    <dgm:pt modelId="{3FE7F60E-EB36-45E8-9EA2-A1145F6FA584}" type="pres">
      <dgm:prSet presAssocID="{2870A813-737A-42F8-A623-B36B757A6BDC}" presName="parentText" presStyleLbl="alignNode1" presStyleIdx="5" presStyleCnt="7">
        <dgm:presLayoutVars>
          <dgm:chMax val="1"/>
          <dgm:bulletEnabled val="1"/>
        </dgm:presLayoutVars>
      </dgm:prSet>
      <dgm:spPr/>
    </dgm:pt>
    <dgm:pt modelId="{7DBB2D37-42C8-4770-8832-39B0456D791D}" type="pres">
      <dgm:prSet presAssocID="{2870A813-737A-42F8-A623-B36B757A6BDC}" presName="descendantText" presStyleLbl="alignAcc1" presStyleIdx="5" presStyleCnt="7">
        <dgm:presLayoutVars>
          <dgm:bulletEnabled val="1"/>
        </dgm:presLayoutVars>
      </dgm:prSet>
      <dgm:spPr/>
    </dgm:pt>
    <dgm:pt modelId="{4065B50E-228D-42D5-AB14-7A9036B757A5}" type="pres">
      <dgm:prSet presAssocID="{FF6FD137-A737-48F5-B5DC-E82A4ADD09E8}" presName="sp" presStyleCnt="0"/>
      <dgm:spPr/>
    </dgm:pt>
    <dgm:pt modelId="{DAE66575-8B9B-438A-8E1D-66ACF4E6F8B8}" type="pres">
      <dgm:prSet presAssocID="{C56ADBA2-09E3-4CB4-AE86-EF249AA93825}" presName="composite" presStyleCnt="0"/>
      <dgm:spPr/>
    </dgm:pt>
    <dgm:pt modelId="{517ACD28-8E58-4F39-802B-6CBD2B142293}" type="pres">
      <dgm:prSet presAssocID="{C56ADBA2-09E3-4CB4-AE86-EF249AA93825}" presName="parentText" presStyleLbl="alignNode1" presStyleIdx="6" presStyleCnt="7">
        <dgm:presLayoutVars>
          <dgm:chMax val="1"/>
          <dgm:bulletEnabled val="1"/>
        </dgm:presLayoutVars>
      </dgm:prSet>
      <dgm:spPr/>
    </dgm:pt>
    <dgm:pt modelId="{02B30806-2F6D-44A6-AE5B-B17E044B5F7D}" type="pres">
      <dgm:prSet presAssocID="{C56ADBA2-09E3-4CB4-AE86-EF249AA93825}" presName="descendantText" presStyleLbl="alignAcc1" presStyleIdx="6" presStyleCnt="7">
        <dgm:presLayoutVars>
          <dgm:bulletEnabled val="1"/>
        </dgm:presLayoutVars>
      </dgm:prSet>
      <dgm:spPr/>
    </dgm:pt>
  </dgm:ptLst>
  <dgm:cxnLst>
    <dgm:cxn modelId="{DE8AEB0A-0000-4D99-8659-E3056F84E84E}" srcId="{5EA58718-CD11-44A2-B106-7C54B2831347}" destId="{50AC5585-F74D-4C2F-BFF3-31BF27FAACBB}" srcOrd="0" destOrd="0" parTransId="{CB8ED76B-042E-4E96-A52D-CA829796768D}" sibTransId="{DFF97FEB-F263-40E1-82C0-36195B9CD7EC}"/>
    <dgm:cxn modelId="{4A50860E-4C5C-43B8-89D4-6B50D533C953}" type="presOf" srcId="{F77E9086-BA8F-4BE9-9B35-38F2EBCF28FB}" destId="{FA64AF0F-22B2-41AA-8516-32D6019FD3F9}" srcOrd="0" destOrd="0" presId="urn:microsoft.com/office/officeart/2005/8/layout/chevron2"/>
    <dgm:cxn modelId="{B4402B1C-4657-4F8D-BDC0-B34A47A88D08}" srcId="{0C2DE689-DA0C-425F-893D-E317B87B3EF1}" destId="{D364010B-C375-4CC9-BD2B-15431D988C31}" srcOrd="0" destOrd="0" parTransId="{AC6F4250-CB37-442C-AE69-CEE182993B2E}" sibTransId="{69FAAEAB-3CC6-4EFF-B815-F8D9BD2AE723}"/>
    <dgm:cxn modelId="{F36E891D-F3C5-48EA-8834-C8125470FB78}" type="presOf" srcId="{50AC5585-F74D-4C2F-BFF3-31BF27FAACBB}" destId="{AD4A651D-327B-438E-97CC-223892FD0585}" srcOrd="0" destOrd="0" presId="urn:microsoft.com/office/officeart/2005/8/layout/chevron2"/>
    <dgm:cxn modelId="{CA5AD31D-191E-4B5A-A2D6-D8503917DA69}" srcId="{2870A813-737A-42F8-A623-B36B757A6BDC}" destId="{7367DB06-25A7-4CC7-A0A1-5BB8CB8A777D}" srcOrd="0" destOrd="0" parTransId="{10F086BF-8076-4F34-A792-D65A158E2DD8}" sibTransId="{4E4D6E79-EBB3-4FBE-AA0F-5538E7F47CAA}"/>
    <dgm:cxn modelId="{CA20A726-DEF5-4458-8BA2-7785BD828EA3}" type="presOf" srcId="{BA2E368A-626B-40EB-B466-7D4D6D39822F}" destId="{6552C472-0E72-48ED-B34A-97BF2FF4CAEE}" srcOrd="0" destOrd="0" presId="urn:microsoft.com/office/officeart/2005/8/layout/chevron2"/>
    <dgm:cxn modelId="{FB06405D-53FC-43BB-887D-1E83B414B45B}" srcId="{5D3533B9-D474-4C58-AA8C-C1B283C6F16C}" destId="{E44F1F51-A046-4DF3-B88F-B98305B6BAAA}" srcOrd="0" destOrd="0" parTransId="{176A0736-99FD-469E-BA91-E529CB10C3D2}" sibTransId="{A8C0768A-AB45-4344-A4B5-B81E7B762CC2}"/>
    <dgm:cxn modelId="{B8061C41-CA74-4310-8DD4-F63D78BE6CAD}" srcId="{BE6E53A4-4AC6-4F1D-965F-F5A73A478D7B}" destId="{C56ADBA2-09E3-4CB4-AE86-EF249AA93825}" srcOrd="6" destOrd="0" parTransId="{79FA3B2B-6812-4831-BF5A-4EB5F293BEC4}" sibTransId="{AAA071C0-D4BA-4112-BF93-3E979F204434}"/>
    <dgm:cxn modelId="{DDBC1963-34EE-44F3-B595-FB4D1C4D9201}" srcId="{F77E9086-BA8F-4BE9-9B35-38F2EBCF28FB}" destId="{8A95AD47-8F9C-4BF9-B47D-D12CB4D38E0D}" srcOrd="0" destOrd="0" parTransId="{E1BCBFE4-4D40-49BE-B78B-AE9ED03235F2}" sibTransId="{91303F4F-1ED8-4A55-AB64-BBCF346B322A}"/>
    <dgm:cxn modelId="{8E256C4B-2414-4943-ACBC-E282803F5435}" type="presOf" srcId="{B76FF61D-9364-4A2A-803B-AC182FB5F0B0}" destId="{9B15759E-34E6-4103-81FF-08CBB254629A}" srcOrd="0" destOrd="0" presId="urn:microsoft.com/office/officeart/2005/8/layout/chevron2"/>
    <dgm:cxn modelId="{DFE6536E-F293-404C-B7C6-97C58D71345D}" srcId="{BE6E53A4-4AC6-4F1D-965F-F5A73A478D7B}" destId="{0C2DE689-DA0C-425F-893D-E317B87B3EF1}" srcOrd="0" destOrd="0" parTransId="{056B8E14-1FFD-43F9-99E0-F45F938A3EA2}" sibTransId="{CB5E93B2-1A13-467B-9CC4-8C4ED73EE8F2}"/>
    <dgm:cxn modelId="{9C79996E-FDFA-4C3F-A452-A4DFE3477BA0}" srcId="{BA2E368A-626B-40EB-B466-7D4D6D39822F}" destId="{B76FF61D-9364-4A2A-803B-AC182FB5F0B0}" srcOrd="0" destOrd="0" parTransId="{10850E41-3EE3-4CE1-9947-0C781ABCD497}" sibTransId="{DF65916C-71B7-4258-8BC6-1156725BEC0C}"/>
    <dgm:cxn modelId="{5D23184F-1EEC-42EE-B4BE-E42CF68432D1}" type="presOf" srcId="{C56ADBA2-09E3-4CB4-AE86-EF249AA93825}" destId="{517ACD28-8E58-4F39-802B-6CBD2B142293}" srcOrd="0" destOrd="0" presId="urn:microsoft.com/office/officeart/2005/8/layout/chevron2"/>
    <dgm:cxn modelId="{4807D94F-6490-4ECA-B31D-47413D8961C9}" srcId="{BE6E53A4-4AC6-4F1D-965F-F5A73A478D7B}" destId="{5EA58718-CD11-44A2-B106-7C54B2831347}" srcOrd="4" destOrd="0" parTransId="{C31DD0B1-D682-4039-82B2-ED362DCBB9DA}" sibTransId="{46FFCC47-9A35-4E1A-BD09-6B7846AD85C5}"/>
    <dgm:cxn modelId="{FFB75C50-B846-4A40-96A5-3660FF30E750}" type="presOf" srcId="{7367DB06-25A7-4CC7-A0A1-5BB8CB8A777D}" destId="{7DBB2D37-42C8-4770-8832-39B0456D791D}" srcOrd="0" destOrd="0" presId="urn:microsoft.com/office/officeart/2005/8/layout/chevron2"/>
    <dgm:cxn modelId="{05BE287E-04E8-49AB-9A4E-57AF72BF2DEE}" type="presOf" srcId="{0C2DE689-DA0C-425F-893D-E317B87B3EF1}" destId="{10BCEE24-0FEF-4F64-9F10-2CAD8FF8D17B}" srcOrd="0" destOrd="0" presId="urn:microsoft.com/office/officeart/2005/8/layout/chevron2"/>
    <dgm:cxn modelId="{CB569093-529F-4057-B16C-E9C29E60E92A}" type="presOf" srcId="{2870A813-737A-42F8-A623-B36B757A6BDC}" destId="{3FE7F60E-EB36-45E8-9EA2-A1145F6FA584}" srcOrd="0" destOrd="0" presId="urn:microsoft.com/office/officeart/2005/8/layout/chevron2"/>
    <dgm:cxn modelId="{42FC4399-60EC-4E07-B1A1-CCD7DB0378A4}" srcId="{BE6E53A4-4AC6-4F1D-965F-F5A73A478D7B}" destId="{F77E9086-BA8F-4BE9-9B35-38F2EBCF28FB}" srcOrd="3" destOrd="0" parTransId="{40413CB3-BA1D-42A3-9864-E86CF33D1BB5}" sibTransId="{5F89C2BF-1CB6-4AF3-8F7B-0CC36704DFC0}"/>
    <dgm:cxn modelId="{0ED1C99A-5B24-4764-BD2C-CF1D76FF79BE}" type="presOf" srcId="{D364010B-C375-4CC9-BD2B-15431D988C31}" destId="{29FEE85A-A9AF-4B09-94A0-6ABF9979FF2E}" srcOrd="0" destOrd="0" presId="urn:microsoft.com/office/officeart/2005/8/layout/chevron2"/>
    <dgm:cxn modelId="{AC6A8EA3-A75A-4CDB-BEC1-EE2584B75983}" type="presOf" srcId="{8A95AD47-8F9C-4BF9-B47D-D12CB4D38E0D}" destId="{F00BF0A3-E2B8-4CF4-9206-83C1DE6A1910}" srcOrd="0" destOrd="0" presId="urn:microsoft.com/office/officeart/2005/8/layout/chevron2"/>
    <dgm:cxn modelId="{923019AA-FB6C-4729-BB9D-58870D4EE79D}" srcId="{BE6E53A4-4AC6-4F1D-965F-F5A73A478D7B}" destId="{2870A813-737A-42F8-A623-B36B757A6BDC}" srcOrd="5" destOrd="0" parTransId="{FC936F4A-D3A6-4379-83AC-A92A0C027AC2}" sibTransId="{FF6FD137-A737-48F5-B5DC-E82A4ADD09E8}"/>
    <dgm:cxn modelId="{75A0A6AE-8F47-4A5A-A8C2-CC6FBC3310A2}" srcId="{BE6E53A4-4AC6-4F1D-965F-F5A73A478D7B}" destId="{5D3533B9-D474-4C58-AA8C-C1B283C6F16C}" srcOrd="1" destOrd="0" parTransId="{AA1D6BF3-237C-4445-A03F-95D10793E058}" sibTransId="{09ADE8F3-52D0-408B-BBC2-15339085F18A}"/>
    <dgm:cxn modelId="{C13846B9-10CE-4BD4-8007-98A8166D0DEC}" type="presOf" srcId="{BE6E53A4-4AC6-4F1D-965F-F5A73A478D7B}" destId="{C281402E-0FCD-43EA-9F39-AE13DC844B05}" srcOrd="0" destOrd="0" presId="urn:microsoft.com/office/officeart/2005/8/layout/chevron2"/>
    <dgm:cxn modelId="{6BE101BC-9670-42AF-9221-95C4EE983823}" type="presOf" srcId="{5D3533B9-D474-4C58-AA8C-C1B283C6F16C}" destId="{77F03047-A850-4C4A-BB95-DEF1831C17CB}" srcOrd="0" destOrd="0" presId="urn:microsoft.com/office/officeart/2005/8/layout/chevron2"/>
    <dgm:cxn modelId="{B8146EDB-78D0-4041-A822-617819B0BBCD}" srcId="{BE6E53A4-4AC6-4F1D-965F-F5A73A478D7B}" destId="{BA2E368A-626B-40EB-B466-7D4D6D39822F}" srcOrd="2" destOrd="0" parTransId="{D573AF74-F435-4D85-838B-0A9C0CCC56A8}" sibTransId="{20AF930F-8A92-4EFD-B12D-CF9219C54839}"/>
    <dgm:cxn modelId="{5AF661DC-8AD1-4C93-832A-B59677D45FC0}" type="presOf" srcId="{5EA58718-CD11-44A2-B106-7C54B2831347}" destId="{2219DFE7-4838-4B5C-8559-894A7EB78DA1}" srcOrd="0" destOrd="0" presId="urn:microsoft.com/office/officeart/2005/8/layout/chevron2"/>
    <dgm:cxn modelId="{6F2187DD-5483-486C-985F-A0F156D8845D}" type="presOf" srcId="{75E3F64D-B8DE-4B68-A798-1CF1684962D1}" destId="{02B30806-2F6D-44A6-AE5B-B17E044B5F7D}" srcOrd="0" destOrd="0" presId="urn:microsoft.com/office/officeart/2005/8/layout/chevron2"/>
    <dgm:cxn modelId="{CDFC3CDF-3658-4354-BEEF-8DF54CC36F1F}" type="presOf" srcId="{E44F1F51-A046-4DF3-B88F-B98305B6BAAA}" destId="{AA08D0B4-3F87-4FEE-A965-08C6C450DBFE}" srcOrd="0" destOrd="0" presId="urn:microsoft.com/office/officeart/2005/8/layout/chevron2"/>
    <dgm:cxn modelId="{AD1178EF-18F0-4BB3-A9A8-8333C67525A9}" srcId="{C56ADBA2-09E3-4CB4-AE86-EF249AA93825}" destId="{75E3F64D-B8DE-4B68-A798-1CF1684962D1}" srcOrd="0" destOrd="0" parTransId="{DA22E9B7-7706-4A69-A9C3-E0676FE90C38}" sibTransId="{B6C498FE-8AEA-4872-8F7D-8785095B35D6}"/>
    <dgm:cxn modelId="{774808DE-1985-4F1D-AC95-16AA0B0B36A2}" type="presParOf" srcId="{C281402E-0FCD-43EA-9F39-AE13DC844B05}" destId="{DC684DE4-C832-4186-A916-E13C6BE60519}" srcOrd="0" destOrd="0" presId="urn:microsoft.com/office/officeart/2005/8/layout/chevron2"/>
    <dgm:cxn modelId="{9775054F-9391-4E41-9495-9F592396F4E1}" type="presParOf" srcId="{DC684DE4-C832-4186-A916-E13C6BE60519}" destId="{10BCEE24-0FEF-4F64-9F10-2CAD8FF8D17B}" srcOrd="0" destOrd="0" presId="urn:microsoft.com/office/officeart/2005/8/layout/chevron2"/>
    <dgm:cxn modelId="{56721983-51CA-41E3-AD2F-2CD912E94FEC}" type="presParOf" srcId="{DC684DE4-C832-4186-A916-E13C6BE60519}" destId="{29FEE85A-A9AF-4B09-94A0-6ABF9979FF2E}" srcOrd="1" destOrd="0" presId="urn:microsoft.com/office/officeart/2005/8/layout/chevron2"/>
    <dgm:cxn modelId="{DB85FDBA-9F04-43F1-9717-1738FC5D34CE}" type="presParOf" srcId="{C281402E-0FCD-43EA-9F39-AE13DC844B05}" destId="{8C149E65-13AF-4193-A847-1DA6D34ABF70}" srcOrd="1" destOrd="0" presId="urn:microsoft.com/office/officeart/2005/8/layout/chevron2"/>
    <dgm:cxn modelId="{17C0687F-86A5-409B-A8CC-237A855F6B44}" type="presParOf" srcId="{C281402E-0FCD-43EA-9F39-AE13DC844B05}" destId="{9D43B36D-49F6-422F-8463-6E8391B9E56F}" srcOrd="2" destOrd="0" presId="urn:microsoft.com/office/officeart/2005/8/layout/chevron2"/>
    <dgm:cxn modelId="{CE404ABE-2E54-4A6B-BFA3-A9392E2C0E66}" type="presParOf" srcId="{9D43B36D-49F6-422F-8463-6E8391B9E56F}" destId="{77F03047-A850-4C4A-BB95-DEF1831C17CB}" srcOrd="0" destOrd="0" presId="urn:microsoft.com/office/officeart/2005/8/layout/chevron2"/>
    <dgm:cxn modelId="{2328BFA4-7B07-4592-8D4F-190C9E742C3C}" type="presParOf" srcId="{9D43B36D-49F6-422F-8463-6E8391B9E56F}" destId="{AA08D0B4-3F87-4FEE-A965-08C6C450DBFE}" srcOrd="1" destOrd="0" presId="urn:microsoft.com/office/officeart/2005/8/layout/chevron2"/>
    <dgm:cxn modelId="{C0532521-CAD1-4C34-9CAE-62805128C1CC}" type="presParOf" srcId="{C281402E-0FCD-43EA-9F39-AE13DC844B05}" destId="{971B6541-855E-49C4-8BF2-E778476B249A}" srcOrd="3" destOrd="0" presId="urn:microsoft.com/office/officeart/2005/8/layout/chevron2"/>
    <dgm:cxn modelId="{539B4931-412A-44E2-A3F8-E2B9CE214BDD}" type="presParOf" srcId="{C281402E-0FCD-43EA-9F39-AE13DC844B05}" destId="{AAA1792A-24EA-4E7F-BC46-CA416BD80FA7}" srcOrd="4" destOrd="0" presId="urn:microsoft.com/office/officeart/2005/8/layout/chevron2"/>
    <dgm:cxn modelId="{09EFAED0-A16E-46EC-A03D-CE3BEBB49C67}" type="presParOf" srcId="{AAA1792A-24EA-4E7F-BC46-CA416BD80FA7}" destId="{6552C472-0E72-48ED-B34A-97BF2FF4CAEE}" srcOrd="0" destOrd="0" presId="urn:microsoft.com/office/officeart/2005/8/layout/chevron2"/>
    <dgm:cxn modelId="{3AB7505B-148F-4720-89C4-DD8A11409932}" type="presParOf" srcId="{AAA1792A-24EA-4E7F-BC46-CA416BD80FA7}" destId="{9B15759E-34E6-4103-81FF-08CBB254629A}" srcOrd="1" destOrd="0" presId="urn:microsoft.com/office/officeart/2005/8/layout/chevron2"/>
    <dgm:cxn modelId="{D45DE4FA-54F7-4320-B435-727B0CB5A14D}" type="presParOf" srcId="{C281402E-0FCD-43EA-9F39-AE13DC844B05}" destId="{3648BCCC-22E8-4CE4-8CCE-671EA2C6ED91}" srcOrd="5" destOrd="0" presId="urn:microsoft.com/office/officeart/2005/8/layout/chevron2"/>
    <dgm:cxn modelId="{44D15BDB-076B-430D-B5A0-BD27B6F29160}" type="presParOf" srcId="{C281402E-0FCD-43EA-9F39-AE13DC844B05}" destId="{E1F84B78-46C6-4D2E-87A8-DB55851C68BA}" srcOrd="6" destOrd="0" presId="urn:microsoft.com/office/officeart/2005/8/layout/chevron2"/>
    <dgm:cxn modelId="{DD057AD8-D477-4E7E-A155-96154F720C7E}" type="presParOf" srcId="{E1F84B78-46C6-4D2E-87A8-DB55851C68BA}" destId="{FA64AF0F-22B2-41AA-8516-32D6019FD3F9}" srcOrd="0" destOrd="0" presId="urn:microsoft.com/office/officeart/2005/8/layout/chevron2"/>
    <dgm:cxn modelId="{7BF7B265-CB2D-472F-B87E-C2D5A67EEFA2}" type="presParOf" srcId="{E1F84B78-46C6-4D2E-87A8-DB55851C68BA}" destId="{F00BF0A3-E2B8-4CF4-9206-83C1DE6A1910}" srcOrd="1" destOrd="0" presId="urn:microsoft.com/office/officeart/2005/8/layout/chevron2"/>
    <dgm:cxn modelId="{749A0754-561A-4CC5-9EC7-218CF8B48A09}" type="presParOf" srcId="{C281402E-0FCD-43EA-9F39-AE13DC844B05}" destId="{3E16B274-0455-4E3F-BCA4-817ACBD33F42}" srcOrd="7" destOrd="0" presId="urn:microsoft.com/office/officeart/2005/8/layout/chevron2"/>
    <dgm:cxn modelId="{60314AA4-7F4A-423E-BF53-866F32E4BF46}" type="presParOf" srcId="{C281402E-0FCD-43EA-9F39-AE13DC844B05}" destId="{12C01443-F744-4975-AE37-5AAEC2AE3F4F}" srcOrd="8" destOrd="0" presId="urn:microsoft.com/office/officeart/2005/8/layout/chevron2"/>
    <dgm:cxn modelId="{F1E6586B-6FD1-4E25-80E0-B1EAA34A9AA4}" type="presParOf" srcId="{12C01443-F744-4975-AE37-5AAEC2AE3F4F}" destId="{2219DFE7-4838-4B5C-8559-894A7EB78DA1}" srcOrd="0" destOrd="0" presId="urn:microsoft.com/office/officeart/2005/8/layout/chevron2"/>
    <dgm:cxn modelId="{3E2F031E-B179-40FB-B6F0-5529EF22E56C}" type="presParOf" srcId="{12C01443-F744-4975-AE37-5AAEC2AE3F4F}" destId="{AD4A651D-327B-438E-97CC-223892FD0585}" srcOrd="1" destOrd="0" presId="urn:microsoft.com/office/officeart/2005/8/layout/chevron2"/>
    <dgm:cxn modelId="{E691FC16-DF49-4BE6-B5FF-0CB65755F40D}" type="presParOf" srcId="{C281402E-0FCD-43EA-9F39-AE13DC844B05}" destId="{462C9943-FB3F-4A9B-BA59-0A767789C3BE}" srcOrd="9" destOrd="0" presId="urn:microsoft.com/office/officeart/2005/8/layout/chevron2"/>
    <dgm:cxn modelId="{7B873A6C-7A3A-40A1-AC9F-66FCDA5A63CC}" type="presParOf" srcId="{C281402E-0FCD-43EA-9F39-AE13DC844B05}" destId="{AFA8D34A-89F8-4183-980C-8495E787D5D9}" srcOrd="10" destOrd="0" presId="urn:microsoft.com/office/officeart/2005/8/layout/chevron2"/>
    <dgm:cxn modelId="{FB63926C-40C0-4335-A8FD-F900F4B71D30}" type="presParOf" srcId="{AFA8D34A-89F8-4183-980C-8495E787D5D9}" destId="{3FE7F60E-EB36-45E8-9EA2-A1145F6FA584}" srcOrd="0" destOrd="0" presId="urn:microsoft.com/office/officeart/2005/8/layout/chevron2"/>
    <dgm:cxn modelId="{C4B8DCD5-7AE5-4C41-BDEC-9873C6AB0675}" type="presParOf" srcId="{AFA8D34A-89F8-4183-980C-8495E787D5D9}" destId="{7DBB2D37-42C8-4770-8832-39B0456D791D}" srcOrd="1" destOrd="0" presId="urn:microsoft.com/office/officeart/2005/8/layout/chevron2"/>
    <dgm:cxn modelId="{9B21E285-D825-45D1-BEB9-344BBAF557B2}" type="presParOf" srcId="{C281402E-0FCD-43EA-9F39-AE13DC844B05}" destId="{4065B50E-228D-42D5-AB14-7A9036B757A5}" srcOrd="11" destOrd="0" presId="urn:microsoft.com/office/officeart/2005/8/layout/chevron2"/>
    <dgm:cxn modelId="{39CB11D3-8192-41CD-8232-519D2C9ECFDF}" type="presParOf" srcId="{C281402E-0FCD-43EA-9F39-AE13DC844B05}" destId="{DAE66575-8B9B-438A-8E1D-66ACF4E6F8B8}" srcOrd="12" destOrd="0" presId="urn:microsoft.com/office/officeart/2005/8/layout/chevron2"/>
    <dgm:cxn modelId="{C538AE37-99D2-449A-8E7C-06A4C99B171D}" type="presParOf" srcId="{DAE66575-8B9B-438A-8E1D-66ACF4E6F8B8}" destId="{517ACD28-8E58-4F39-802B-6CBD2B142293}" srcOrd="0" destOrd="0" presId="urn:microsoft.com/office/officeart/2005/8/layout/chevron2"/>
    <dgm:cxn modelId="{479B81EA-B7F2-4D23-8A5D-FDD7FC6E38AA}" type="presParOf" srcId="{DAE66575-8B9B-438A-8E1D-66ACF4E6F8B8}" destId="{02B30806-2F6D-44A6-AE5B-B17E044B5F7D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BCEE24-0FEF-4F64-9F10-2CAD8FF8D17B}">
      <dsp:nvSpPr>
        <dsp:cNvPr id="0" name=""/>
        <dsp:cNvSpPr/>
      </dsp:nvSpPr>
      <dsp:spPr>
        <a:xfrm rot="5400000">
          <a:off x="-159422" y="227383"/>
          <a:ext cx="1312008" cy="918406"/>
        </a:xfrm>
        <a:prstGeom prst="chevron">
          <a:avLst/>
        </a:prstGeom>
        <a:solidFill>
          <a:schemeClr val="accent3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bg1">
              <a:alpha val="9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Phase 1</a:t>
          </a:r>
        </a:p>
      </dsp:txBody>
      <dsp:txXfrm rot="-5400000">
        <a:off x="37379" y="489785"/>
        <a:ext cx="918406" cy="393602"/>
      </dsp:txXfrm>
    </dsp:sp>
    <dsp:sp modelId="{29FEE85A-A9AF-4B09-94A0-6ABF9979FF2E}">
      <dsp:nvSpPr>
        <dsp:cNvPr id="0" name=""/>
        <dsp:cNvSpPr/>
      </dsp:nvSpPr>
      <dsp:spPr>
        <a:xfrm rot="5400000">
          <a:off x="6662200" y="-5717448"/>
          <a:ext cx="852805" cy="12340393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808" tIns="21590" rIns="21590" bIns="21590" numCol="1" spcCol="1270" anchor="ctr" anchorCtr="0">
          <a:noAutofit/>
        </a:bodyPr>
        <a:lstStyle/>
        <a:p>
          <a:pPr marL="285750" lvl="1" indent="-285750" algn="l" defTabSz="1511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400" kern="1200" dirty="0">
              <a:ea typeface="Roboto"/>
              <a:cs typeface="Roboto"/>
              <a:sym typeface="Roboto"/>
            </a:rPr>
            <a:t>Core specialist agents and orchestration pipeline</a:t>
          </a:r>
          <a:endParaRPr lang="en-US" sz="3400" kern="1200" dirty="0"/>
        </a:p>
      </dsp:txBody>
      <dsp:txXfrm rot="-5400000">
        <a:off x="918407" y="67976"/>
        <a:ext cx="12298762" cy="769543"/>
      </dsp:txXfrm>
    </dsp:sp>
    <dsp:sp modelId="{77F03047-A850-4C4A-BB95-DEF1831C17CB}">
      <dsp:nvSpPr>
        <dsp:cNvPr id="0" name=""/>
        <dsp:cNvSpPr/>
      </dsp:nvSpPr>
      <dsp:spPr>
        <a:xfrm rot="5400000">
          <a:off x="-196801" y="1437196"/>
          <a:ext cx="1312008" cy="918406"/>
        </a:xfrm>
        <a:prstGeom prst="chevron">
          <a:avLst/>
        </a:prstGeom>
        <a:solidFill>
          <a:schemeClr val="accent3">
            <a:alpha val="90000"/>
            <a:hueOff val="0"/>
            <a:satOff val="0"/>
            <a:lumOff val="0"/>
            <a:alphaOff val="-6667"/>
          </a:schemeClr>
        </a:solidFill>
        <a:ln w="25400" cap="flat" cmpd="sng" algn="ctr">
          <a:solidFill>
            <a:schemeClr val="bg1">
              <a:alpha val="83333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Phase 2</a:t>
          </a:r>
        </a:p>
      </dsp:txBody>
      <dsp:txXfrm rot="-5400000">
        <a:off x="0" y="1699598"/>
        <a:ext cx="918406" cy="393602"/>
      </dsp:txXfrm>
    </dsp:sp>
    <dsp:sp modelId="{AA08D0B4-3F87-4FEE-A965-08C6C450DBFE}">
      <dsp:nvSpPr>
        <dsp:cNvPr id="0" name=""/>
        <dsp:cNvSpPr/>
      </dsp:nvSpPr>
      <dsp:spPr>
        <a:xfrm rot="5400000">
          <a:off x="6662200" y="-4521836"/>
          <a:ext cx="852805" cy="12340393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alpha val="90000"/>
              <a:hueOff val="0"/>
              <a:satOff val="0"/>
              <a:lumOff val="0"/>
              <a:alphaOff val="-6667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808" tIns="21590" rIns="21590" bIns="21590" numCol="1" spcCol="1270" anchor="ctr" anchorCtr="0">
          <a:noAutofit/>
        </a:bodyPr>
        <a:lstStyle/>
        <a:p>
          <a:pPr marL="285750" lvl="1" indent="-285750" algn="l" defTabSz="1511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400" kern="1200" dirty="0">
              <a:ea typeface="Roboto"/>
              <a:cs typeface="Roboto"/>
              <a:sym typeface="Roboto"/>
            </a:rPr>
            <a:t>Debate mechanism, agents argue and refine diagnoses collaboratively</a:t>
          </a:r>
          <a:endParaRPr lang="en-US" sz="3400" kern="1200" dirty="0"/>
        </a:p>
      </dsp:txBody>
      <dsp:txXfrm rot="-5400000">
        <a:off x="918407" y="1263588"/>
        <a:ext cx="12298762" cy="769543"/>
      </dsp:txXfrm>
    </dsp:sp>
    <dsp:sp modelId="{6552C472-0E72-48ED-B34A-97BF2FF4CAEE}">
      <dsp:nvSpPr>
        <dsp:cNvPr id="0" name=""/>
        <dsp:cNvSpPr/>
      </dsp:nvSpPr>
      <dsp:spPr>
        <a:xfrm rot="5400000">
          <a:off x="-196801" y="2668591"/>
          <a:ext cx="1312008" cy="918406"/>
        </a:xfrm>
        <a:prstGeom prst="chevron">
          <a:avLst/>
        </a:prstGeom>
        <a:solidFill>
          <a:schemeClr val="accent3">
            <a:alpha val="90000"/>
            <a:hueOff val="0"/>
            <a:satOff val="0"/>
            <a:lumOff val="0"/>
            <a:alphaOff val="-13333"/>
          </a:schemeClr>
        </a:solidFill>
        <a:ln w="25400" cap="flat" cmpd="sng" algn="ctr">
          <a:solidFill>
            <a:schemeClr val="bg1">
              <a:alpha val="76667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Phase 3</a:t>
          </a:r>
        </a:p>
      </dsp:txBody>
      <dsp:txXfrm rot="-5400000">
        <a:off x="0" y="2930993"/>
        <a:ext cx="918406" cy="393602"/>
      </dsp:txXfrm>
    </dsp:sp>
    <dsp:sp modelId="{9B15759E-34E6-4103-81FF-08CBB254629A}">
      <dsp:nvSpPr>
        <dsp:cNvPr id="0" name=""/>
        <dsp:cNvSpPr/>
      </dsp:nvSpPr>
      <dsp:spPr>
        <a:xfrm rot="5400000">
          <a:off x="6662200" y="-3272003"/>
          <a:ext cx="852805" cy="12340393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alpha val="90000"/>
              <a:hueOff val="0"/>
              <a:satOff val="0"/>
              <a:lumOff val="0"/>
              <a:alphaOff val="-13333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808" tIns="21590" rIns="21590" bIns="21590" numCol="1" spcCol="1270" anchor="ctr" anchorCtr="0">
          <a:noAutofit/>
        </a:bodyPr>
        <a:lstStyle/>
        <a:p>
          <a:pPr marL="285750" lvl="1" indent="-285750" algn="l" defTabSz="1511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400" kern="1200" dirty="0">
              <a:ea typeface="Roboto"/>
              <a:cs typeface="Roboto"/>
              <a:sym typeface="Roboto"/>
            </a:rPr>
            <a:t>Consensus mechanism for final diagnosis</a:t>
          </a:r>
          <a:endParaRPr lang="en-US" sz="3400" kern="1200" dirty="0"/>
        </a:p>
      </dsp:txBody>
      <dsp:txXfrm rot="-5400000">
        <a:off x="918407" y="2513421"/>
        <a:ext cx="12298762" cy="769543"/>
      </dsp:txXfrm>
    </dsp:sp>
    <dsp:sp modelId="{FA64AF0F-22B2-41AA-8516-32D6019FD3F9}">
      <dsp:nvSpPr>
        <dsp:cNvPr id="0" name=""/>
        <dsp:cNvSpPr/>
      </dsp:nvSpPr>
      <dsp:spPr>
        <a:xfrm rot="5400000">
          <a:off x="-196801" y="3899987"/>
          <a:ext cx="1312008" cy="918406"/>
        </a:xfrm>
        <a:prstGeom prst="chevron">
          <a:avLst/>
        </a:prstGeom>
        <a:solidFill>
          <a:schemeClr val="accent3">
            <a:alpha val="90000"/>
            <a:hueOff val="0"/>
            <a:satOff val="0"/>
            <a:lumOff val="0"/>
            <a:alphaOff val="-20000"/>
          </a:schemeClr>
        </a:solidFill>
        <a:ln w="25400" cap="flat" cmpd="sng" algn="ctr">
          <a:solidFill>
            <a:schemeClr val="bg1">
              <a:alpha val="7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Phase 4</a:t>
          </a:r>
        </a:p>
      </dsp:txBody>
      <dsp:txXfrm rot="-5400000">
        <a:off x="0" y="4162389"/>
        <a:ext cx="918406" cy="393602"/>
      </dsp:txXfrm>
    </dsp:sp>
    <dsp:sp modelId="{F00BF0A3-E2B8-4CF4-9206-83C1DE6A1910}">
      <dsp:nvSpPr>
        <dsp:cNvPr id="0" name=""/>
        <dsp:cNvSpPr/>
      </dsp:nvSpPr>
      <dsp:spPr>
        <a:xfrm rot="5400000">
          <a:off x="6662200" y="-2040607"/>
          <a:ext cx="852805" cy="12340393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alpha val="90000"/>
              <a:hueOff val="0"/>
              <a:satOff val="0"/>
              <a:lumOff val="0"/>
              <a:alphaOff val="-2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808" tIns="21590" rIns="21590" bIns="21590" numCol="1" spcCol="1270" anchor="ctr" anchorCtr="0">
          <a:noAutofit/>
        </a:bodyPr>
        <a:lstStyle/>
        <a:p>
          <a:pPr marL="285750" lvl="1" indent="-285750" algn="l" defTabSz="1511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400" kern="1200" dirty="0">
              <a:ea typeface="Roboto"/>
              <a:cs typeface="Roboto"/>
              <a:sym typeface="Roboto"/>
            </a:rPr>
            <a:t>Build knowledge base for RAG integration</a:t>
          </a:r>
          <a:endParaRPr lang="en-US" sz="3400" kern="1200" dirty="0"/>
        </a:p>
      </dsp:txBody>
      <dsp:txXfrm rot="-5400000">
        <a:off x="918407" y="3744817"/>
        <a:ext cx="12298762" cy="769543"/>
      </dsp:txXfrm>
    </dsp:sp>
    <dsp:sp modelId="{2219DFE7-4838-4B5C-8559-894A7EB78DA1}">
      <dsp:nvSpPr>
        <dsp:cNvPr id="0" name=""/>
        <dsp:cNvSpPr/>
      </dsp:nvSpPr>
      <dsp:spPr>
        <a:xfrm rot="5400000">
          <a:off x="-196801" y="5127997"/>
          <a:ext cx="1312008" cy="918406"/>
        </a:xfrm>
        <a:prstGeom prst="chevron">
          <a:avLst/>
        </a:prstGeom>
        <a:solidFill>
          <a:schemeClr val="accent3">
            <a:alpha val="90000"/>
            <a:hueOff val="0"/>
            <a:satOff val="0"/>
            <a:lumOff val="0"/>
            <a:alphaOff val="-26667"/>
          </a:schemeClr>
        </a:solidFill>
        <a:ln w="25400" cap="flat" cmpd="sng" algn="ctr">
          <a:solidFill>
            <a:schemeClr val="bg1">
              <a:alpha val="63333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Phase 5</a:t>
          </a:r>
        </a:p>
      </dsp:txBody>
      <dsp:txXfrm rot="-5400000">
        <a:off x="0" y="5390399"/>
        <a:ext cx="918406" cy="393602"/>
      </dsp:txXfrm>
    </dsp:sp>
    <dsp:sp modelId="{AD4A651D-327B-438E-97CC-223892FD0585}">
      <dsp:nvSpPr>
        <dsp:cNvPr id="0" name=""/>
        <dsp:cNvSpPr/>
      </dsp:nvSpPr>
      <dsp:spPr>
        <a:xfrm rot="5400000">
          <a:off x="6662200" y="-809212"/>
          <a:ext cx="852805" cy="12340393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alpha val="90000"/>
              <a:hueOff val="0"/>
              <a:satOff val="0"/>
              <a:lumOff val="0"/>
              <a:alphaOff val="-26667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808" tIns="21590" rIns="21590" bIns="21590" numCol="1" spcCol="1270" anchor="ctr" anchorCtr="0">
          <a:noAutofit/>
        </a:bodyPr>
        <a:lstStyle/>
        <a:p>
          <a:pPr marL="285750" lvl="1" indent="-285750" algn="l" defTabSz="1511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400" kern="1200" dirty="0">
              <a:ea typeface="Roboto"/>
              <a:cs typeface="Roboto"/>
              <a:sym typeface="Roboto"/>
            </a:rPr>
            <a:t>Test RAG and optimize pipeline</a:t>
          </a:r>
          <a:endParaRPr lang="en-US" sz="3400" kern="1200" dirty="0"/>
        </a:p>
      </dsp:txBody>
      <dsp:txXfrm rot="-5400000">
        <a:off x="918407" y="4976212"/>
        <a:ext cx="12298762" cy="769543"/>
      </dsp:txXfrm>
    </dsp:sp>
    <dsp:sp modelId="{3FE7F60E-EB36-45E8-9EA2-A1145F6FA584}">
      <dsp:nvSpPr>
        <dsp:cNvPr id="0" name=""/>
        <dsp:cNvSpPr/>
      </dsp:nvSpPr>
      <dsp:spPr>
        <a:xfrm rot="5400000">
          <a:off x="-196801" y="6362778"/>
          <a:ext cx="1312008" cy="918406"/>
        </a:xfrm>
        <a:prstGeom prst="chevron">
          <a:avLst/>
        </a:prstGeom>
        <a:solidFill>
          <a:schemeClr val="accent3">
            <a:alpha val="90000"/>
            <a:hueOff val="0"/>
            <a:satOff val="0"/>
            <a:lumOff val="0"/>
            <a:alphaOff val="-33333"/>
          </a:schemeClr>
        </a:solidFill>
        <a:ln w="25400" cap="flat" cmpd="sng" algn="ctr">
          <a:solidFill>
            <a:schemeClr val="bg1">
              <a:alpha val="56667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Phase 6</a:t>
          </a:r>
        </a:p>
      </dsp:txBody>
      <dsp:txXfrm rot="-5400000">
        <a:off x="0" y="6625180"/>
        <a:ext cx="918406" cy="393602"/>
      </dsp:txXfrm>
    </dsp:sp>
    <dsp:sp modelId="{7DBB2D37-42C8-4770-8832-39B0456D791D}">
      <dsp:nvSpPr>
        <dsp:cNvPr id="0" name=""/>
        <dsp:cNvSpPr/>
      </dsp:nvSpPr>
      <dsp:spPr>
        <a:xfrm rot="5400000">
          <a:off x="6662200" y="422183"/>
          <a:ext cx="852805" cy="12340393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alpha val="90000"/>
              <a:hueOff val="0"/>
              <a:satOff val="0"/>
              <a:lumOff val="0"/>
              <a:alphaOff val="-33333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808" tIns="21590" rIns="21590" bIns="21590" numCol="1" spcCol="1270" anchor="ctr" anchorCtr="0">
          <a:noAutofit/>
        </a:bodyPr>
        <a:lstStyle/>
        <a:p>
          <a:pPr marL="285750" lvl="1" indent="-285750" algn="l" defTabSz="1511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400" kern="1200" dirty="0">
              <a:ea typeface="Roboto"/>
              <a:cs typeface="Roboto"/>
              <a:sym typeface="Roboto"/>
            </a:rPr>
            <a:t>Develop patient-facing web interface</a:t>
          </a:r>
          <a:endParaRPr lang="en-US" sz="3400" kern="1200" dirty="0"/>
        </a:p>
      </dsp:txBody>
      <dsp:txXfrm rot="-5400000">
        <a:off x="918407" y="6207608"/>
        <a:ext cx="12298762" cy="769543"/>
      </dsp:txXfrm>
    </dsp:sp>
    <dsp:sp modelId="{517ACD28-8E58-4F39-802B-6CBD2B142293}">
      <dsp:nvSpPr>
        <dsp:cNvPr id="0" name=""/>
        <dsp:cNvSpPr/>
      </dsp:nvSpPr>
      <dsp:spPr>
        <a:xfrm rot="5400000">
          <a:off x="-196801" y="7594174"/>
          <a:ext cx="1312008" cy="918406"/>
        </a:xfrm>
        <a:prstGeom prst="chevron">
          <a:avLst/>
        </a:prstGeom>
        <a:solidFill>
          <a:schemeClr val="accent3">
            <a:alpha val="90000"/>
            <a:hueOff val="0"/>
            <a:satOff val="0"/>
            <a:lumOff val="0"/>
            <a:alphaOff val="-40000"/>
          </a:schemeClr>
        </a:solidFill>
        <a:ln w="25400" cap="flat" cmpd="sng" algn="ctr">
          <a:solidFill>
            <a:schemeClr val="bg1">
              <a:alpha val="5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Phase 7</a:t>
          </a:r>
        </a:p>
      </dsp:txBody>
      <dsp:txXfrm rot="-5400000">
        <a:off x="0" y="7856576"/>
        <a:ext cx="918406" cy="393602"/>
      </dsp:txXfrm>
    </dsp:sp>
    <dsp:sp modelId="{02B30806-2F6D-44A6-AE5B-B17E044B5F7D}">
      <dsp:nvSpPr>
        <dsp:cNvPr id="0" name=""/>
        <dsp:cNvSpPr/>
      </dsp:nvSpPr>
      <dsp:spPr>
        <a:xfrm rot="5400000">
          <a:off x="6662200" y="1653578"/>
          <a:ext cx="852805" cy="12340393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alpha val="90000"/>
              <a:hueOff val="0"/>
              <a:satOff val="0"/>
              <a:lumOff val="0"/>
              <a:alphaOff val="-4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808" tIns="21590" rIns="21590" bIns="21590" numCol="1" spcCol="1270" anchor="ctr" anchorCtr="0">
          <a:noAutofit/>
        </a:bodyPr>
        <a:lstStyle/>
        <a:p>
          <a:pPr marL="285750" lvl="1" indent="-285750" algn="l" defTabSz="1511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400" kern="1200" dirty="0">
              <a:ea typeface="Roboto"/>
              <a:cs typeface="Roboto"/>
              <a:sym typeface="Roboto"/>
            </a:rPr>
            <a:t>Deployment and performance evaluation</a:t>
          </a:r>
          <a:endParaRPr lang="en-US" sz="3400" kern="1200" dirty="0"/>
        </a:p>
      </dsp:txBody>
      <dsp:txXfrm rot="-5400000">
        <a:off x="918407" y="7439003"/>
        <a:ext cx="12298762" cy="76954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24.10.2025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228600" indent="-228600">
              <a:buAutoNum type="arabicPeriod"/>
            </a:pPr>
            <a:r>
              <a:rPr lang="en-US" dirty="0"/>
              <a:t>Ai has potential in medical but lacks reliability</a:t>
            </a:r>
          </a:p>
          <a:p>
            <a:pPr marL="228600" indent="-228600">
              <a:buAutoNum type="arabicPeriod"/>
            </a:pPr>
            <a:r>
              <a:rPr lang="en-US" dirty="0"/>
              <a:t>MAS improve the quality of the diagnostics as compared to single</a:t>
            </a:r>
          </a:p>
          <a:p>
            <a:pPr marL="228600" indent="-228600">
              <a:buAutoNum type="arabicPeriod"/>
            </a:pPr>
            <a:r>
              <a:rPr lang="en-US" dirty="0" err="1"/>
              <a:t>Explainability</a:t>
            </a:r>
            <a:r>
              <a:rPr lang="en-US" dirty="0"/>
              <a:t> matters a lot </a:t>
            </a:r>
          </a:p>
          <a:p>
            <a:pPr marL="228600" indent="-228600">
              <a:buAutoNum type="arabicPeriod"/>
            </a:pPr>
            <a:r>
              <a:rPr lang="en-US" dirty="0"/>
              <a:t>Again single chatbot isn’t that reliable</a:t>
            </a:r>
          </a:p>
          <a:p>
            <a:pPr marL="228600" indent="-228600">
              <a:buAutoNum type="arabicPeriod"/>
            </a:pPr>
            <a:r>
              <a:rPr lang="en-US" dirty="0"/>
              <a:t>Directly introduced Multi agent debate framework </a:t>
            </a:r>
          </a:p>
          <a:p>
            <a:pPr marL="228600" indent="-228600">
              <a:buAutoNum type="arabicPeriod"/>
            </a:pPr>
            <a:r>
              <a:rPr lang="en-US" dirty="0"/>
              <a:t>Proof of concept for multi agent system in medical field with specialized agents.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6200" y="0"/>
            <a:ext cx="18288000" cy="10287000"/>
            <a:chOff x="0" y="0"/>
            <a:chExt cx="24384000" cy="13716000"/>
          </a:xfrm>
          <a:solidFill>
            <a:schemeClr val="bg1"/>
          </a:solidFill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0" y="0"/>
            <a:ext cx="7200900" cy="10287000"/>
            <a:chOff x="0" y="0"/>
            <a:chExt cx="9601200" cy="13716000"/>
          </a:xfrm>
        </p:grpSpPr>
        <p:sp>
          <p:nvSpPr>
            <p:cNvPr id="5" name="Freeform 5" descr="preencoded.png"/>
            <p:cNvSpPr/>
            <p:nvPr/>
          </p:nvSpPr>
          <p:spPr>
            <a:xfrm>
              <a:off x="0" y="0"/>
              <a:ext cx="9601200" cy="13716000"/>
            </a:xfrm>
            <a:custGeom>
              <a:avLst/>
              <a:gdLst/>
              <a:ahLst/>
              <a:cxnLst/>
              <a:rect l="l" t="t" r="r" b="b"/>
              <a:pathLst>
                <a:path w="9601200" h="13716000">
                  <a:moveTo>
                    <a:pt x="0" y="0"/>
                  </a:moveTo>
                  <a:lnTo>
                    <a:pt x="9601200" y="0"/>
                  </a:lnTo>
                  <a:lnTo>
                    <a:pt x="96012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7277100" y="1334833"/>
            <a:ext cx="10109001" cy="3502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250"/>
              </a:lnSpc>
            </a:pPr>
            <a:r>
              <a:rPr lang="en-US" sz="5500" b="1" dirty="0" err="1">
                <a:solidFill>
                  <a:srgbClr val="2E3C4E"/>
                </a:solidFill>
                <a:latin typeface="Arial Black" panose="020B0A04020102020204" pitchFamily="34" charset="0"/>
                <a:ea typeface="Arimo"/>
                <a:cs typeface="Arial" panose="020B0604020202020204" pitchFamily="34" charset="0"/>
                <a:sym typeface="Arimo"/>
              </a:rPr>
              <a:t>DoctorHive</a:t>
            </a:r>
            <a:r>
              <a:rPr lang="en-US" sz="5500" b="1" dirty="0">
                <a:solidFill>
                  <a:srgbClr val="2E3C4E"/>
                </a:solidFill>
                <a:latin typeface="Arial Black" panose="020B0A04020102020204" pitchFamily="34" charset="0"/>
                <a:ea typeface="Arimo"/>
                <a:cs typeface="Arial" panose="020B0604020202020204" pitchFamily="34" charset="0"/>
                <a:sym typeface="Arimo"/>
              </a:rPr>
              <a:t>: </a:t>
            </a:r>
          </a:p>
          <a:p>
            <a:pPr algn="l">
              <a:lnSpc>
                <a:spcPts val="9250"/>
              </a:lnSpc>
            </a:pPr>
            <a:r>
              <a:rPr lang="en-US" sz="5300" b="1" dirty="0">
                <a:solidFill>
                  <a:srgbClr val="2E3C4E"/>
                </a:solidFill>
                <a:latin typeface="Arial Black" panose="020B0A04020102020204" pitchFamily="34" charset="0"/>
                <a:ea typeface="Arimo"/>
                <a:cs typeface="Arial" panose="020B0604020202020204" pitchFamily="34" charset="0"/>
                <a:sym typeface="Arimo"/>
              </a:rPr>
              <a:t>A Multi-Agent Specialist Consultation System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315200" y="5310634"/>
            <a:ext cx="9372600" cy="11798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550"/>
              </a:lnSpc>
            </a:pPr>
            <a:r>
              <a:rPr lang="en-US" sz="4000" b="1" dirty="0">
                <a:solidFill>
                  <a:srgbClr val="384653"/>
                </a:solidFill>
                <a:ea typeface="Roboto Bold"/>
                <a:cs typeface="Roboto Bold"/>
                <a:sym typeface="Roboto Bold"/>
              </a:rPr>
              <a:t>Presented by:</a:t>
            </a:r>
            <a:r>
              <a:rPr lang="en-US" sz="4000" dirty="0">
                <a:solidFill>
                  <a:srgbClr val="384653"/>
                </a:solidFill>
                <a:ea typeface="Roboto"/>
                <a:cs typeface="Roboto"/>
                <a:sym typeface="Roboto"/>
              </a:rPr>
              <a:t> Abdul Moiz Shehzad, Muhammad Fahad Hussain, </a:t>
            </a:r>
            <a:r>
              <a:rPr lang="en-US" sz="4000" dirty="0" err="1">
                <a:solidFill>
                  <a:srgbClr val="384653"/>
                </a:solidFill>
                <a:ea typeface="Roboto"/>
                <a:cs typeface="Roboto"/>
                <a:sym typeface="Roboto"/>
              </a:rPr>
              <a:t>Reyyan</a:t>
            </a:r>
            <a:r>
              <a:rPr lang="en-US" sz="4000" dirty="0">
                <a:solidFill>
                  <a:srgbClr val="384653"/>
                </a:solidFill>
                <a:ea typeface="Roboto"/>
                <a:cs typeface="Roboto"/>
                <a:sym typeface="Roboto"/>
              </a:rPr>
              <a:t> Saeed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315200" y="6870872"/>
            <a:ext cx="10109001" cy="404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4000" b="1" dirty="0">
                <a:solidFill>
                  <a:srgbClr val="384653"/>
                </a:solidFill>
                <a:ea typeface="Roboto Bold"/>
                <a:cs typeface="Roboto Bold"/>
                <a:sym typeface="Roboto Bold"/>
              </a:rPr>
              <a:t>Supervisor:</a:t>
            </a:r>
            <a:r>
              <a:rPr lang="en-US" sz="4000" dirty="0">
                <a:solidFill>
                  <a:srgbClr val="384653"/>
                </a:solidFill>
                <a:ea typeface="Roboto"/>
                <a:cs typeface="Roboto"/>
                <a:sym typeface="Roboto"/>
              </a:rPr>
              <a:t> Ms. Mariam Nasim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315201" y="7732012"/>
            <a:ext cx="10109001" cy="404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4000" b="1" dirty="0">
                <a:solidFill>
                  <a:srgbClr val="384653"/>
                </a:solidFill>
                <a:ea typeface="Roboto Bold"/>
                <a:cs typeface="Roboto Bold"/>
                <a:sym typeface="Roboto Bold"/>
              </a:rPr>
              <a:t>Institution:</a:t>
            </a:r>
            <a:r>
              <a:rPr lang="en-US" sz="4000" dirty="0">
                <a:solidFill>
                  <a:srgbClr val="384653"/>
                </a:solidFill>
                <a:ea typeface="Roboto"/>
                <a:cs typeface="Roboto"/>
                <a:sym typeface="Roboto"/>
              </a:rPr>
              <a:t> FAST-NUCES, Lahore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9FBCB11-FC88-2159-1F41-1F07EEC61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0" y="199103"/>
            <a:ext cx="6553202" cy="1143000"/>
          </a:xfrm>
        </p:spPr>
        <p:txBody>
          <a:bodyPr>
            <a:normAutofit/>
          </a:bodyPr>
          <a:lstStyle/>
          <a:p>
            <a:r>
              <a:rPr lang="en-US" b="1" dirty="0">
                <a:latin typeface="Arial Black" panose="020B0A04020102020204" pitchFamily="34" charset="0"/>
              </a:rPr>
              <a:t>Table of Contents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F3B5720-B4ED-7143-62DA-CF0C8A7D7D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2783451"/>
              </p:ext>
            </p:extLst>
          </p:nvPr>
        </p:nvGraphicFramePr>
        <p:xfrm>
          <a:off x="1295400" y="1342103"/>
          <a:ext cx="15544800" cy="8347006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056190">
                  <a:extLst>
                    <a:ext uri="{9D8B030D-6E8A-4147-A177-3AD203B41FA5}">
                      <a16:colId xmlns:a16="http://schemas.microsoft.com/office/drawing/2014/main" val="2282681859"/>
                    </a:ext>
                  </a:extLst>
                </a:gridCol>
                <a:gridCol w="13488610">
                  <a:extLst>
                    <a:ext uri="{9D8B030D-6E8A-4147-A177-3AD203B41FA5}">
                      <a16:colId xmlns:a16="http://schemas.microsoft.com/office/drawing/2014/main" val="698523625"/>
                    </a:ext>
                  </a:extLst>
                </a:gridCol>
              </a:tblGrid>
              <a:tr h="9906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3600" b="1" dirty="0">
                          <a:solidFill>
                            <a:schemeClr val="dk1"/>
                          </a:solidFill>
                          <a:latin typeface="+mn-lt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3600" b="1" dirty="0">
                        <a:solidFill>
                          <a:schemeClr val="dk1"/>
                        </a:solidFill>
                        <a:latin typeface="+mn-lt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3200" dirty="0">
                          <a:solidFill>
                            <a:schemeClr val="dk1"/>
                          </a:solidFill>
                          <a:latin typeface="+mn-lt"/>
                          <a:ea typeface="Lexend"/>
                          <a:cs typeface="Lexend"/>
                          <a:sym typeface="Lexend"/>
                        </a:rPr>
                        <a:t>Problem Statement &amp; Elaboration</a:t>
                      </a:r>
                      <a:endParaRPr sz="3200" dirty="0">
                        <a:solidFill>
                          <a:schemeClr val="dk1"/>
                        </a:solidFill>
                        <a:latin typeface="+mn-lt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6057908"/>
                  </a:ext>
                </a:extLst>
              </a:tr>
              <a:tr h="9015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3600" b="1" dirty="0">
                          <a:solidFill>
                            <a:schemeClr val="dk1"/>
                          </a:solidFill>
                          <a:latin typeface="+mn-lt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3600" b="1" dirty="0">
                        <a:solidFill>
                          <a:schemeClr val="dk1"/>
                        </a:solidFill>
                        <a:latin typeface="+mn-lt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3200" dirty="0">
                          <a:solidFill>
                            <a:schemeClr val="dk1"/>
                          </a:solidFill>
                          <a:latin typeface="+mn-lt"/>
                          <a:ea typeface="Lexend"/>
                          <a:cs typeface="Lexend"/>
                          <a:sym typeface="Lexend"/>
                        </a:rPr>
                        <a:t>Scope</a:t>
                      </a:r>
                      <a:endParaRPr sz="3200" dirty="0">
                        <a:solidFill>
                          <a:schemeClr val="dk1"/>
                        </a:solidFill>
                        <a:latin typeface="+mn-lt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9282381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3600" b="1" dirty="0">
                          <a:solidFill>
                            <a:schemeClr val="dk1"/>
                          </a:solidFill>
                          <a:latin typeface="+mn-lt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3600" b="1" dirty="0">
                        <a:solidFill>
                          <a:schemeClr val="dk1"/>
                        </a:solidFill>
                        <a:latin typeface="+mn-lt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3200" dirty="0">
                          <a:solidFill>
                            <a:schemeClr val="dk1"/>
                          </a:solidFill>
                          <a:latin typeface="+mn-lt"/>
                          <a:ea typeface="Lexend"/>
                          <a:cs typeface="Lexend"/>
                          <a:sym typeface="Lexend"/>
                        </a:rPr>
                        <a:t>Foundational Literature</a:t>
                      </a:r>
                      <a:endParaRPr sz="3200" dirty="0">
                        <a:solidFill>
                          <a:schemeClr val="dk1"/>
                        </a:solidFill>
                        <a:latin typeface="+mn-lt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2038275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3600" b="1" dirty="0">
                          <a:solidFill>
                            <a:schemeClr val="dk1"/>
                          </a:solidFill>
                          <a:latin typeface="+mn-lt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3600" b="1" dirty="0">
                        <a:solidFill>
                          <a:schemeClr val="dk1"/>
                        </a:solidFill>
                        <a:latin typeface="+mn-lt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3200" dirty="0">
                          <a:solidFill>
                            <a:schemeClr val="dk1"/>
                          </a:solidFill>
                          <a:latin typeface="+mn-lt"/>
                          <a:ea typeface="Lexend"/>
                          <a:cs typeface="Lexend"/>
                          <a:sym typeface="Lexend"/>
                        </a:rPr>
                        <a:t>Architecture</a:t>
                      </a:r>
                      <a:endParaRPr sz="3200" dirty="0">
                        <a:solidFill>
                          <a:schemeClr val="dk1"/>
                        </a:solidFill>
                        <a:latin typeface="+mn-lt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352556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 b="1" dirty="0">
                          <a:solidFill>
                            <a:schemeClr val="dk1"/>
                          </a:solidFill>
                          <a:latin typeface="+mn-lt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3600" b="1" dirty="0">
                        <a:solidFill>
                          <a:schemeClr val="dk1"/>
                        </a:solidFill>
                        <a:latin typeface="+mn-lt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 dirty="0">
                          <a:solidFill>
                            <a:schemeClr val="dk1"/>
                          </a:solidFill>
                          <a:latin typeface="+mn-lt"/>
                          <a:ea typeface="Lexend"/>
                          <a:cs typeface="Lexend"/>
                          <a:sym typeface="Lexend"/>
                        </a:rPr>
                        <a:t>Methodology</a:t>
                      </a:r>
                      <a:endParaRPr sz="3200" dirty="0">
                        <a:solidFill>
                          <a:schemeClr val="dk1"/>
                        </a:solidFill>
                        <a:latin typeface="+mn-lt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4156211"/>
                  </a:ext>
                </a:extLst>
              </a:tr>
              <a:tr h="851039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3600" b="1" dirty="0">
                          <a:solidFill>
                            <a:schemeClr val="dk1"/>
                          </a:solidFill>
                          <a:latin typeface="+mn-lt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</a:p>
                  </a:txBody>
                  <a:tcPr marL="91425" marR="9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3200" dirty="0">
                          <a:solidFill>
                            <a:schemeClr val="dk1"/>
                          </a:solidFill>
                          <a:latin typeface="+mn-lt"/>
                          <a:ea typeface="Lexend"/>
                          <a:cs typeface="Lexend"/>
                          <a:sym typeface="Lexend"/>
                        </a:rPr>
                        <a:t>Goals</a:t>
                      </a:r>
                    </a:p>
                  </a:txBody>
                  <a:tcPr marL="91425" marR="9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4923153"/>
                  </a:ext>
                </a:extLst>
              </a:tr>
              <a:tr h="962233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3600" b="1" dirty="0">
                          <a:solidFill>
                            <a:schemeClr val="dk1"/>
                          </a:solidFill>
                          <a:latin typeface="+mn-lt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</a:p>
                  </a:txBody>
                  <a:tcPr marL="91425" marR="9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3200" dirty="0">
                          <a:solidFill>
                            <a:schemeClr val="dk1"/>
                          </a:solidFill>
                          <a:latin typeface="+mn-lt"/>
                          <a:ea typeface="Lexend"/>
                          <a:cs typeface="Lexend"/>
                          <a:sym typeface="Lexend"/>
                        </a:rPr>
                        <a:t>Requirements Constraints &amp; Limits</a:t>
                      </a:r>
                    </a:p>
                  </a:txBody>
                  <a:tcPr marL="91425" marR="9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01750880"/>
                  </a:ext>
                </a:extLst>
              </a:tr>
              <a:tr h="942767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3600" b="1" dirty="0">
                          <a:solidFill>
                            <a:schemeClr val="dk1"/>
                          </a:solidFill>
                          <a:latin typeface="+mn-lt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</a:p>
                  </a:txBody>
                  <a:tcPr marL="91425" marR="9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3200" dirty="0">
                          <a:solidFill>
                            <a:schemeClr val="dk1"/>
                          </a:solidFill>
                          <a:latin typeface="+mn-lt"/>
                          <a:ea typeface="Lexend"/>
                          <a:cs typeface="Lexend"/>
                          <a:sym typeface="Lexend"/>
                        </a:rPr>
                        <a:t>Prototype &amp; Experimental Design</a:t>
                      </a:r>
                    </a:p>
                  </a:txBody>
                  <a:tcPr marL="91425" marR="9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3505873"/>
                  </a:ext>
                </a:extLst>
              </a:tr>
              <a:tr h="1184206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3600" b="1" dirty="0">
                          <a:solidFill>
                            <a:schemeClr val="dk1"/>
                          </a:solidFill>
                          <a:latin typeface="+mn-lt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</a:p>
                  </a:txBody>
                  <a:tcPr marL="91425" marR="9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3200" dirty="0">
                          <a:solidFill>
                            <a:schemeClr val="dk1"/>
                          </a:solidFill>
                          <a:latin typeface="+mn-lt"/>
                          <a:ea typeface="Lexend"/>
                          <a:cs typeface="Lexend"/>
                          <a:sym typeface="Lexend"/>
                        </a:rPr>
                        <a:t>Conclusion &amp; Impact</a:t>
                      </a:r>
                    </a:p>
                  </a:txBody>
                  <a:tcPr marL="91425" marR="9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796117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89920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  <a:solidFill>
            <a:schemeClr val="bg1"/>
          </a:solidFill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grpFill/>
          </p:spPr>
        </p:sp>
      </p:grpSp>
      <p:sp>
        <p:nvSpPr>
          <p:cNvPr id="4" name="TextBox 4"/>
          <p:cNvSpPr txBox="1"/>
          <p:nvPr/>
        </p:nvSpPr>
        <p:spPr>
          <a:xfrm>
            <a:off x="960538" y="1180215"/>
            <a:ext cx="10452794" cy="8515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00" dirty="0">
                <a:latin typeface="Arial Black" panose="020B0A04020102020204" pitchFamily="34" charset="0"/>
                <a:ea typeface="Arimo"/>
                <a:cs typeface="Arimo"/>
                <a:sym typeface="Arimo"/>
              </a:rPr>
              <a:t>Problem &amp; Elaboration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60538" y="2584906"/>
            <a:ext cx="16303526" cy="1154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12"/>
              </a:lnSpc>
            </a:pPr>
            <a:r>
              <a:rPr lang="en-US" sz="4000" b="1" dirty="0">
                <a:ea typeface="Roboto Bold"/>
                <a:cs typeface="Roboto Bold"/>
                <a:sym typeface="Roboto Bold"/>
              </a:rPr>
              <a:t>Problem:</a:t>
            </a:r>
            <a:r>
              <a:rPr lang="en-US" sz="4000" b="1" dirty="0">
                <a:ea typeface="Roboto"/>
                <a:cs typeface="Roboto"/>
                <a:sym typeface="Roboto"/>
              </a:rPr>
              <a:t> </a:t>
            </a:r>
            <a:r>
              <a:rPr lang="en-US" sz="4000" dirty="0">
                <a:ea typeface="Roboto"/>
                <a:cs typeface="Roboto"/>
                <a:sym typeface="Roboto"/>
              </a:rPr>
              <a:t>Current medical chatbots produce unreliable, panic-inducing outputs with opaque reasoning and limited expertise.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973188" y="4013299"/>
            <a:ext cx="5283547" cy="2401926"/>
            <a:chOff x="0" y="0"/>
            <a:chExt cx="7044730" cy="2859683"/>
          </a:xfrm>
          <a:solidFill>
            <a:schemeClr val="accent3">
              <a:lumMod val="20000"/>
              <a:lumOff val="80000"/>
            </a:schemeClr>
          </a:solidFill>
        </p:grpSpPr>
        <p:sp>
          <p:nvSpPr>
            <p:cNvPr id="7" name="Freeform 7"/>
            <p:cNvSpPr/>
            <p:nvPr/>
          </p:nvSpPr>
          <p:spPr>
            <a:xfrm>
              <a:off x="25400" y="25400"/>
              <a:ext cx="6994017" cy="2808859"/>
            </a:xfrm>
            <a:custGeom>
              <a:avLst/>
              <a:gdLst/>
              <a:ahLst/>
              <a:cxnLst/>
              <a:rect l="l" t="t" r="r" b="b"/>
              <a:pathLst>
                <a:path w="6994017" h="2808859">
                  <a:moveTo>
                    <a:pt x="0" y="158750"/>
                  </a:moveTo>
                  <a:cubicBezTo>
                    <a:pt x="0" y="71120"/>
                    <a:pt x="71882" y="0"/>
                    <a:pt x="160528" y="0"/>
                  </a:cubicBezTo>
                  <a:lnTo>
                    <a:pt x="6833489" y="0"/>
                  </a:lnTo>
                  <a:cubicBezTo>
                    <a:pt x="6922135" y="0"/>
                    <a:pt x="6994017" y="71120"/>
                    <a:pt x="6994017" y="158750"/>
                  </a:cubicBezTo>
                  <a:lnTo>
                    <a:pt x="6994017" y="2650109"/>
                  </a:lnTo>
                  <a:cubicBezTo>
                    <a:pt x="6994017" y="2737866"/>
                    <a:pt x="6922135" y="2808859"/>
                    <a:pt x="6833489" y="2808859"/>
                  </a:cubicBezTo>
                  <a:lnTo>
                    <a:pt x="160528" y="2808859"/>
                  </a:lnTo>
                  <a:cubicBezTo>
                    <a:pt x="71882" y="2808859"/>
                    <a:pt x="0" y="2737739"/>
                    <a:pt x="0" y="2650109"/>
                  </a:cubicBezTo>
                  <a:close/>
                </a:path>
              </a:pathLst>
            </a:custGeom>
            <a:grpFill/>
          </p:spPr>
        </p:sp>
        <p:sp>
          <p:nvSpPr>
            <p:cNvPr id="8" name="Freeform 8"/>
            <p:cNvSpPr/>
            <p:nvPr/>
          </p:nvSpPr>
          <p:spPr>
            <a:xfrm>
              <a:off x="0" y="0"/>
              <a:ext cx="7044817" cy="2859659"/>
            </a:xfrm>
            <a:custGeom>
              <a:avLst/>
              <a:gdLst/>
              <a:ahLst/>
              <a:cxnLst/>
              <a:rect l="l" t="t" r="r" b="b"/>
              <a:pathLst>
                <a:path w="7044817" h="2859659">
                  <a:moveTo>
                    <a:pt x="0" y="184150"/>
                  </a:moveTo>
                  <a:cubicBezTo>
                    <a:pt x="0" y="82169"/>
                    <a:pt x="83439" y="0"/>
                    <a:pt x="185928" y="0"/>
                  </a:cubicBezTo>
                  <a:lnTo>
                    <a:pt x="6858889" y="0"/>
                  </a:lnTo>
                  <a:lnTo>
                    <a:pt x="6858889" y="25400"/>
                  </a:lnTo>
                  <a:lnTo>
                    <a:pt x="6858889" y="0"/>
                  </a:lnTo>
                  <a:cubicBezTo>
                    <a:pt x="6961251" y="0"/>
                    <a:pt x="7044817" y="82169"/>
                    <a:pt x="7044817" y="184150"/>
                  </a:cubicBezTo>
                  <a:lnTo>
                    <a:pt x="7019417" y="184150"/>
                  </a:lnTo>
                  <a:lnTo>
                    <a:pt x="7044817" y="184150"/>
                  </a:lnTo>
                  <a:lnTo>
                    <a:pt x="7044817" y="2675509"/>
                  </a:lnTo>
                  <a:lnTo>
                    <a:pt x="7019417" y="2675509"/>
                  </a:lnTo>
                  <a:lnTo>
                    <a:pt x="7044817" y="2675509"/>
                  </a:lnTo>
                  <a:cubicBezTo>
                    <a:pt x="7044817" y="2777490"/>
                    <a:pt x="6961378" y="2859659"/>
                    <a:pt x="6858889" y="2859659"/>
                  </a:cubicBezTo>
                  <a:lnTo>
                    <a:pt x="6858889" y="2834259"/>
                  </a:lnTo>
                  <a:lnTo>
                    <a:pt x="6858889" y="2859659"/>
                  </a:lnTo>
                  <a:lnTo>
                    <a:pt x="185928" y="2859659"/>
                  </a:lnTo>
                  <a:lnTo>
                    <a:pt x="185928" y="2834259"/>
                  </a:lnTo>
                  <a:lnTo>
                    <a:pt x="185928" y="2859659"/>
                  </a:lnTo>
                  <a:cubicBezTo>
                    <a:pt x="83439" y="2859659"/>
                    <a:pt x="0" y="2777490"/>
                    <a:pt x="0" y="2675509"/>
                  </a:cubicBezTo>
                  <a:lnTo>
                    <a:pt x="0" y="184150"/>
                  </a:lnTo>
                  <a:lnTo>
                    <a:pt x="25400" y="184150"/>
                  </a:lnTo>
                  <a:lnTo>
                    <a:pt x="0" y="184150"/>
                  </a:lnTo>
                  <a:moveTo>
                    <a:pt x="50800" y="184150"/>
                  </a:moveTo>
                  <a:lnTo>
                    <a:pt x="50800" y="2675509"/>
                  </a:lnTo>
                  <a:lnTo>
                    <a:pt x="25400" y="2675509"/>
                  </a:lnTo>
                  <a:lnTo>
                    <a:pt x="50800" y="2675509"/>
                  </a:lnTo>
                  <a:cubicBezTo>
                    <a:pt x="50800" y="2748915"/>
                    <a:pt x="110998" y="2808859"/>
                    <a:pt x="185928" y="2808859"/>
                  </a:cubicBezTo>
                  <a:lnTo>
                    <a:pt x="6858889" y="2808859"/>
                  </a:lnTo>
                  <a:cubicBezTo>
                    <a:pt x="6933692" y="2808859"/>
                    <a:pt x="6994017" y="2748915"/>
                    <a:pt x="6994017" y="2675509"/>
                  </a:cubicBezTo>
                  <a:lnTo>
                    <a:pt x="6994017" y="184150"/>
                  </a:lnTo>
                  <a:cubicBezTo>
                    <a:pt x="6994017" y="110744"/>
                    <a:pt x="6933819" y="50800"/>
                    <a:pt x="6858889" y="50800"/>
                  </a:cubicBezTo>
                  <a:lnTo>
                    <a:pt x="185928" y="50800"/>
                  </a:lnTo>
                  <a:lnTo>
                    <a:pt x="185928" y="25400"/>
                  </a:lnTo>
                  <a:lnTo>
                    <a:pt x="185928" y="50800"/>
                  </a:lnTo>
                  <a:cubicBezTo>
                    <a:pt x="110998" y="50800"/>
                    <a:pt x="50800" y="110744"/>
                    <a:pt x="50800" y="184150"/>
                  </a:cubicBezTo>
                  <a:close/>
                </a:path>
              </a:pathLst>
            </a:custGeom>
            <a:grpFill/>
          </p:spPr>
        </p:sp>
      </p:grpSp>
      <p:sp>
        <p:nvSpPr>
          <p:cNvPr id="9" name="TextBox 9"/>
          <p:cNvSpPr txBox="1"/>
          <p:nvPr/>
        </p:nvSpPr>
        <p:spPr>
          <a:xfrm>
            <a:off x="1313855" y="4315866"/>
            <a:ext cx="3544044" cy="445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3500" b="1" dirty="0">
                <a:ea typeface="Arimo"/>
                <a:cs typeface="Arimo"/>
                <a:sym typeface="Arimo"/>
              </a:rPr>
              <a:t>Unreliable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13855" y="4890790"/>
            <a:ext cx="4602212" cy="1282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3500" dirty="0">
                <a:ea typeface="Roboto"/>
                <a:cs typeface="Roboto"/>
                <a:sym typeface="Roboto"/>
              </a:rPr>
              <a:t>Single agents make unchecked reasoning errors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6502152" y="4013299"/>
            <a:ext cx="5283547" cy="2401906"/>
            <a:chOff x="0" y="0"/>
            <a:chExt cx="7044730" cy="2859683"/>
          </a:xfrm>
          <a:solidFill>
            <a:schemeClr val="accent3">
              <a:lumMod val="20000"/>
              <a:lumOff val="80000"/>
            </a:schemeClr>
          </a:solidFill>
        </p:grpSpPr>
        <p:sp>
          <p:nvSpPr>
            <p:cNvPr id="12" name="Freeform 12"/>
            <p:cNvSpPr/>
            <p:nvPr/>
          </p:nvSpPr>
          <p:spPr>
            <a:xfrm>
              <a:off x="25400" y="25400"/>
              <a:ext cx="6994017" cy="2808859"/>
            </a:xfrm>
            <a:custGeom>
              <a:avLst/>
              <a:gdLst/>
              <a:ahLst/>
              <a:cxnLst/>
              <a:rect l="l" t="t" r="r" b="b"/>
              <a:pathLst>
                <a:path w="6994017" h="2808859">
                  <a:moveTo>
                    <a:pt x="0" y="158750"/>
                  </a:moveTo>
                  <a:cubicBezTo>
                    <a:pt x="0" y="71120"/>
                    <a:pt x="71882" y="0"/>
                    <a:pt x="160528" y="0"/>
                  </a:cubicBezTo>
                  <a:lnTo>
                    <a:pt x="6833489" y="0"/>
                  </a:lnTo>
                  <a:cubicBezTo>
                    <a:pt x="6922135" y="0"/>
                    <a:pt x="6994017" y="71120"/>
                    <a:pt x="6994017" y="158750"/>
                  </a:cubicBezTo>
                  <a:lnTo>
                    <a:pt x="6994017" y="2650109"/>
                  </a:lnTo>
                  <a:cubicBezTo>
                    <a:pt x="6994017" y="2737866"/>
                    <a:pt x="6922135" y="2808859"/>
                    <a:pt x="6833489" y="2808859"/>
                  </a:cubicBezTo>
                  <a:lnTo>
                    <a:pt x="160528" y="2808859"/>
                  </a:lnTo>
                  <a:cubicBezTo>
                    <a:pt x="71882" y="2808859"/>
                    <a:pt x="0" y="2737739"/>
                    <a:pt x="0" y="2650109"/>
                  </a:cubicBezTo>
                  <a:close/>
                </a:path>
              </a:pathLst>
            </a:custGeom>
            <a:grpFill/>
          </p:spPr>
        </p:sp>
        <p:sp>
          <p:nvSpPr>
            <p:cNvPr id="13" name="Freeform 13"/>
            <p:cNvSpPr/>
            <p:nvPr/>
          </p:nvSpPr>
          <p:spPr>
            <a:xfrm>
              <a:off x="0" y="0"/>
              <a:ext cx="7044817" cy="2859659"/>
            </a:xfrm>
            <a:custGeom>
              <a:avLst/>
              <a:gdLst/>
              <a:ahLst/>
              <a:cxnLst/>
              <a:rect l="l" t="t" r="r" b="b"/>
              <a:pathLst>
                <a:path w="7044817" h="2859659">
                  <a:moveTo>
                    <a:pt x="0" y="184150"/>
                  </a:moveTo>
                  <a:cubicBezTo>
                    <a:pt x="0" y="82169"/>
                    <a:pt x="83439" y="0"/>
                    <a:pt x="185928" y="0"/>
                  </a:cubicBezTo>
                  <a:lnTo>
                    <a:pt x="6858889" y="0"/>
                  </a:lnTo>
                  <a:lnTo>
                    <a:pt x="6858889" y="25400"/>
                  </a:lnTo>
                  <a:lnTo>
                    <a:pt x="6858889" y="0"/>
                  </a:lnTo>
                  <a:cubicBezTo>
                    <a:pt x="6961251" y="0"/>
                    <a:pt x="7044817" y="82169"/>
                    <a:pt x="7044817" y="184150"/>
                  </a:cubicBezTo>
                  <a:lnTo>
                    <a:pt x="7019417" y="184150"/>
                  </a:lnTo>
                  <a:lnTo>
                    <a:pt x="7044817" y="184150"/>
                  </a:lnTo>
                  <a:lnTo>
                    <a:pt x="7044817" y="2675509"/>
                  </a:lnTo>
                  <a:lnTo>
                    <a:pt x="7019417" y="2675509"/>
                  </a:lnTo>
                  <a:lnTo>
                    <a:pt x="7044817" y="2675509"/>
                  </a:lnTo>
                  <a:cubicBezTo>
                    <a:pt x="7044817" y="2777490"/>
                    <a:pt x="6961378" y="2859659"/>
                    <a:pt x="6858889" y="2859659"/>
                  </a:cubicBezTo>
                  <a:lnTo>
                    <a:pt x="6858889" y="2834259"/>
                  </a:lnTo>
                  <a:lnTo>
                    <a:pt x="6858889" y="2859659"/>
                  </a:lnTo>
                  <a:lnTo>
                    <a:pt x="185928" y="2859659"/>
                  </a:lnTo>
                  <a:lnTo>
                    <a:pt x="185928" y="2834259"/>
                  </a:lnTo>
                  <a:lnTo>
                    <a:pt x="185928" y="2859659"/>
                  </a:lnTo>
                  <a:cubicBezTo>
                    <a:pt x="83439" y="2859659"/>
                    <a:pt x="0" y="2777490"/>
                    <a:pt x="0" y="2675509"/>
                  </a:cubicBezTo>
                  <a:lnTo>
                    <a:pt x="0" y="184150"/>
                  </a:lnTo>
                  <a:lnTo>
                    <a:pt x="25400" y="184150"/>
                  </a:lnTo>
                  <a:lnTo>
                    <a:pt x="0" y="184150"/>
                  </a:lnTo>
                  <a:moveTo>
                    <a:pt x="50800" y="184150"/>
                  </a:moveTo>
                  <a:lnTo>
                    <a:pt x="50800" y="2675509"/>
                  </a:lnTo>
                  <a:lnTo>
                    <a:pt x="25400" y="2675509"/>
                  </a:lnTo>
                  <a:lnTo>
                    <a:pt x="50800" y="2675509"/>
                  </a:lnTo>
                  <a:cubicBezTo>
                    <a:pt x="50800" y="2748915"/>
                    <a:pt x="110998" y="2808859"/>
                    <a:pt x="185928" y="2808859"/>
                  </a:cubicBezTo>
                  <a:lnTo>
                    <a:pt x="6858889" y="2808859"/>
                  </a:lnTo>
                  <a:cubicBezTo>
                    <a:pt x="6933692" y="2808859"/>
                    <a:pt x="6994017" y="2748915"/>
                    <a:pt x="6994017" y="2675509"/>
                  </a:cubicBezTo>
                  <a:lnTo>
                    <a:pt x="6994017" y="184150"/>
                  </a:lnTo>
                  <a:cubicBezTo>
                    <a:pt x="6994017" y="110744"/>
                    <a:pt x="6933819" y="50800"/>
                    <a:pt x="6858889" y="50800"/>
                  </a:cubicBezTo>
                  <a:lnTo>
                    <a:pt x="185928" y="50800"/>
                  </a:lnTo>
                  <a:lnTo>
                    <a:pt x="185928" y="25400"/>
                  </a:lnTo>
                  <a:lnTo>
                    <a:pt x="185928" y="50800"/>
                  </a:lnTo>
                  <a:cubicBezTo>
                    <a:pt x="110998" y="50800"/>
                    <a:pt x="50800" y="110744"/>
                    <a:pt x="50800" y="184150"/>
                  </a:cubicBezTo>
                  <a:close/>
                </a:path>
              </a:pathLst>
            </a:custGeom>
            <a:grpFill/>
          </p:spPr>
        </p:sp>
      </p:grpSp>
      <p:sp>
        <p:nvSpPr>
          <p:cNvPr id="14" name="TextBox 14"/>
          <p:cNvSpPr txBox="1"/>
          <p:nvPr/>
        </p:nvSpPr>
        <p:spPr>
          <a:xfrm>
            <a:off x="6842820" y="4315866"/>
            <a:ext cx="4358580" cy="4455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3500" b="1" dirty="0">
                <a:ea typeface="Arimo"/>
                <a:cs typeface="Arimo"/>
                <a:sym typeface="Arimo"/>
              </a:rPr>
              <a:t>Limited Specialization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42820" y="4991100"/>
            <a:ext cx="4602212" cy="859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3500" dirty="0">
                <a:ea typeface="Roboto"/>
                <a:cs typeface="Roboto"/>
                <a:sym typeface="Roboto"/>
              </a:rPr>
              <a:t>No model covers multiple medical fields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2031116" y="4013299"/>
            <a:ext cx="5283547" cy="2380552"/>
            <a:chOff x="0" y="0"/>
            <a:chExt cx="7044730" cy="2859683"/>
          </a:xfrm>
          <a:solidFill>
            <a:schemeClr val="accent3">
              <a:lumMod val="20000"/>
              <a:lumOff val="80000"/>
            </a:schemeClr>
          </a:solidFill>
        </p:grpSpPr>
        <p:sp>
          <p:nvSpPr>
            <p:cNvPr id="17" name="Freeform 17"/>
            <p:cNvSpPr/>
            <p:nvPr/>
          </p:nvSpPr>
          <p:spPr>
            <a:xfrm>
              <a:off x="25400" y="25400"/>
              <a:ext cx="6994017" cy="2808859"/>
            </a:xfrm>
            <a:custGeom>
              <a:avLst/>
              <a:gdLst/>
              <a:ahLst/>
              <a:cxnLst/>
              <a:rect l="l" t="t" r="r" b="b"/>
              <a:pathLst>
                <a:path w="6994017" h="2808859">
                  <a:moveTo>
                    <a:pt x="0" y="158750"/>
                  </a:moveTo>
                  <a:cubicBezTo>
                    <a:pt x="0" y="71120"/>
                    <a:pt x="71882" y="0"/>
                    <a:pt x="160528" y="0"/>
                  </a:cubicBezTo>
                  <a:lnTo>
                    <a:pt x="6833489" y="0"/>
                  </a:lnTo>
                  <a:cubicBezTo>
                    <a:pt x="6922135" y="0"/>
                    <a:pt x="6994017" y="71120"/>
                    <a:pt x="6994017" y="158750"/>
                  </a:cubicBezTo>
                  <a:lnTo>
                    <a:pt x="6994017" y="2650109"/>
                  </a:lnTo>
                  <a:cubicBezTo>
                    <a:pt x="6994017" y="2737866"/>
                    <a:pt x="6922135" y="2808859"/>
                    <a:pt x="6833489" y="2808859"/>
                  </a:cubicBezTo>
                  <a:lnTo>
                    <a:pt x="160528" y="2808859"/>
                  </a:lnTo>
                  <a:cubicBezTo>
                    <a:pt x="71882" y="2808859"/>
                    <a:pt x="0" y="2737739"/>
                    <a:pt x="0" y="2650109"/>
                  </a:cubicBezTo>
                  <a:close/>
                </a:path>
              </a:pathLst>
            </a:custGeom>
            <a:grpFill/>
          </p:spPr>
        </p:sp>
        <p:sp>
          <p:nvSpPr>
            <p:cNvPr id="18" name="Freeform 18"/>
            <p:cNvSpPr/>
            <p:nvPr/>
          </p:nvSpPr>
          <p:spPr>
            <a:xfrm>
              <a:off x="0" y="0"/>
              <a:ext cx="7044817" cy="2859659"/>
            </a:xfrm>
            <a:custGeom>
              <a:avLst/>
              <a:gdLst/>
              <a:ahLst/>
              <a:cxnLst/>
              <a:rect l="l" t="t" r="r" b="b"/>
              <a:pathLst>
                <a:path w="7044817" h="2859659">
                  <a:moveTo>
                    <a:pt x="0" y="184150"/>
                  </a:moveTo>
                  <a:cubicBezTo>
                    <a:pt x="0" y="82169"/>
                    <a:pt x="83439" y="0"/>
                    <a:pt x="185928" y="0"/>
                  </a:cubicBezTo>
                  <a:lnTo>
                    <a:pt x="6858889" y="0"/>
                  </a:lnTo>
                  <a:lnTo>
                    <a:pt x="6858889" y="25400"/>
                  </a:lnTo>
                  <a:lnTo>
                    <a:pt x="6858889" y="0"/>
                  </a:lnTo>
                  <a:cubicBezTo>
                    <a:pt x="6961251" y="0"/>
                    <a:pt x="7044817" y="82169"/>
                    <a:pt x="7044817" y="184150"/>
                  </a:cubicBezTo>
                  <a:lnTo>
                    <a:pt x="7019417" y="184150"/>
                  </a:lnTo>
                  <a:lnTo>
                    <a:pt x="7044817" y="184150"/>
                  </a:lnTo>
                  <a:lnTo>
                    <a:pt x="7044817" y="2675509"/>
                  </a:lnTo>
                  <a:lnTo>
                    <a:pt x="7019417" y="2675509"/>
                  </a:lnTo>
                  <a:lnTo>
                    <a:pt x="7044817" y="2675509"/>
                  </a:lnTo>
                  <a:cubicBezTo>
                    <a:pt x="7044817" y="2777490"/>
                    <a:pt x="6961378" y="2859659"/>
                    <a:pt x="6858889" y="2859659"/>
                  </a:cubicBezTo>
                  <a:lnTo>
                    <a:pt x="6858889" y="2834259"/>
                  </a:lnTo>
                  <a:lnTo>
                    <a:pt x="6858889" y="2859659"/>
                  </a:lnTo>
                  <a:lnTo>
                    <a:pt x="185928" y="2859659"/>
                  </a:lnTo>
                  <a:lnTo>
                    <a:pt x="185928" y="2834259"/>
                  </a:lnTo>
                  <a:lnTo>
                    <a:pt x="185928" y="2859659"/>
                  </a:lnTo>
                  <a:cubicBezTo>
                    <a:pt x="83439" y="2859659"/>
                    <a:pt x="0" y="2777490"/>
                    <a:pt x="0" y="2675509"/>
                  </a:cubicBezTo>
                  <a:lnTo>
                    <a:pt x="0" y="184150"/>
                  </a:lnTo>
                  <a:lnTo>
                    <a:pt x="25400" y="184150"/>
                  </a:lnTo>
                  <a:lnTo>
                    <a:pt x="0" y="184150"/>
                  </a:lnTo>
                  <a:moveTo>
                    <a:pt x="50800" y="184150"/>
                  </a:moveTo>
                  <a:lnTo>
                    <a:pt x="50800" y="2675509"/>
                  </a:lnTo>
                  <a:lnTo>
                    <a:pt x="25400" y="2675509"/>
                  </a:lnTo>
                  <a:lnTo>
                    <a:pt x="50800" y="2675509"/>
                  </a:lnTo>
                  <a:cubicBezTo>
                    <a:pt x="50800" y="2748915"/>
                    <a:pt x="110998" y="2808859"/>
                    <a:pt x="185928" y="2808859"/>
                  </a:cubicBezTo>
                  <a:lnTo>
                    <a:pt x="6858889" y="2808859"/>
                  </a:lnTo>
                  <a:cubicBezTo>
                    <a:pt x="6933692" y="2808859"/>
                    <a:pt x="6994017" y="2748915"/>
                    <a:pt x="6994017" y="2675509"/>
                  </a:cubicBezTo>
                  <a:lnTo>
                    <a:pt x="6994017" y="184150"/>
                  </a:lnTo>
                  <a:cubicBezTo>
                    <a:pt x="6994017" y="110744"/>
                    <a:pt x="6933819" y="50800"/>
                    <a:pt x="6858889" y="50800"/>
                  </a:cubicBezTo>
                  <a:lnTo>
                    <a:pt x="185928" y="50800"/>
                  </a:lnTo>
                  <a:lnTo>
                    <a:pt x="185928" y="25400"/>
                  </a:lnTo>
                  <a:lnTo>
                    <a:pt x="185928" y="50800"/>
                  </a:lnTo>
                  <a:cubicBezTo>
                    <a:pt x="110998" y="50800"/>
                    <a:pt x="50800" y="110744"/>
                    <a:pt x="50800" y="184150"/>
                  </a:cubicBezTo>
                  <a:close/>
                </a:path>
              </a:pathLst>
            </a:custGeom>
            <a:grpFill/>
          </p:spPr>
        </p:sp>
      </p:grpSp>
      <p:sp>
        <p:nvSpPr>
          <p:cNvPr id="19" name="TextBox 19"/>
          <p:cNvSpPr txBox="1"/>
          <p:nvPr/>
        </p:nvSpPr>
        <p:spPr>
          <a:xfrm>
            <a:off x="12371784" y="4315866"/>
            <a:ext cx="3544044" cy="445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3500" b="1" dirty="0">
                <a:ea typeface="Arimo"/>
                <a:cs typeface="Arimo"/>
                <a:sym typeface="Arimo"/>
              </a:rPr>
              <a:t>Trust Gap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371784" y="4890790"/>
            <a:ext cx="4602213" cy="1282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3500" dirty="0">
                <a:ea typeface="Roboto"/>
                <a:cs typeface="Roboto"/>
                <a:sym typeface="Roboto"/>
              </a:rPr>
              <a:t>Lack of explainability reduces patient confidence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92238" y="7031682"/>
            <a:ext cx="5103762" cy="5297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4000" b="1" dirty="0">
                <a:ea typeface="Arimo"/>
                <a:cs typeface="Arimo"/>
                <a:sym typeface="Arimo"/>
              </a:rPr>
              <a:t>DoctorHive's Solution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92238" y="7950399"/>
            <a:ext cx="16303526" cy="1154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4000" dirty="0">
                <a:ea typeface="Roboto"/>
                <a:cs typeface="Roboto"/>
                <a:sym typeface="Roboto"/>
              </a:rPr>
              <a:t>A multi-agent system where medical specialists debate and collaborate to reach a reliable, consensus-based diagnosis.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52400" y="0"/>
            <a:ext cx="18288000" cy="10287000"/>
            <a:chOff x="0" y="0"/>
            <a:chExt cx="24384000" cy="13716000"/>
          </a:xfrm>
          <a:solidFill>
            <a:schemeClr val="bg1"/>
          </a:solidFill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 dirty="0"/>
            </a:p>
          </p:txBody>
        </p:sp>
      </p:grpSp>
      <p:graphicFrame>
        <p:nvGraphicFramePr>
          <p:cNvPr id="21" name="Table 21">
            <a:extLst>
              <a:ext uri="{FF2B5EF4-FFF2-40B4-BE49-F238E27FC236}">
                <a16:creationId xmlns:a16="http://schemas.microsoft.com/office/drawing/2014/main" id="{CFE528CB-9D89-47D4-A70F-02F00C9875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6270716"/>
              </p:ext>
            </p:extLst>
          </p:nvPr>
        </p:nvGraphicFramePr>
        <p:xfrm>
          <a:off x="1676400" y="1676328"/>
          <a:ext cx="14630400" cy="69657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0">
                  <a:extLst>
                    <a:ext uri="{9D8B030D-6E8A-4147-A177-3AD203B41FA5}">
                      <a16:colId xmlns:a16="http://schemas.microsoft.com/office/drawing/2014/main" val="2125682383"/>
                    </a:ext>
                  </a:extLst>
                </a:gridCol>
                <a:gridCol w="7315200">
                  <a:extLst>
                    <a:ext uri="{9D8B030D-6E8A-4147-A177-3AD203B41FA5}">
                      <a16:colId xmlns:a16="http://schemas.microsoft.com/office/drawing/2014/main" val="1391492632"/>
                    </a:ext>
                  </a:extLst>
                </a:gridCol>
              </a:tblGrid>
              <a:tr h="599498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tx1"/>
                          </a:solidFill>
                        </a:rPr>
                        <a:t>In Scope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tx1"/>
                          </a:solidFill>
                        </a:rPr>
                        <a:t>Out of Scope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3090288"/>
                  </a:ext>
                </a:extLst>
              </a:tr>
              <a:tr h="1634995"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3600" dirty="0">
                          <a:ea typeface="Roboto"/>
                          <a:cs typeface="Roboto"/>
                          <a:sym typeface="Roboto"/>
                        </a:rPr>
                        <a:t>Develop Multi-Agent Debate Framework for healthcare queries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3600" dirty="0">
                          <a:ea typeface="Roboto"/>
                          <a:cs typeface="Roboto"/>
                          <a:sym typeface="Roboto"/>
                        </a:rPr>
                        <a:t>Hospital database or EHR integration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169445"/>
                  </a:ext>
                </a:extLst>
              </a:tr>
              <a:tr h="1735732"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3600" dirty="0">
                          <a:ea typeface="Roboto"/>
                          <a:cs typeface="Roboto"/>
                          <a:sym typeface="Roboto"/>
                        </a:rPr>
                        <a:t>Role-based agents: General Physician, Cardiology, Neurology, Ophthalmology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3600" dirty="0">
                          <a:ea typeface="Roboto"/>
                          <a:cs typeface="Roboto"/>
                          <a:sym typeface="Roboto"/>
                        </a:rPr>
                        <a:t>Prescription or treatment generation</a:t>
                      </a:r>
                    </a:p>
                  </a:txBody>
                  <a:tcPr>
                    <a:lnB w="12700" cmpd="sng"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5287897"/>
                  </a:ext>
                </a:extLst>
              </a:tr>
              <a:tr h="1634995"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3600" dirty="0">
                          <a:ea typeface="Roboto"/>
                          <a:cs typeface="Roboto"/>
                          <a:sym typeface="Roboto"/>
                        </a:rPr>
                        <a:t>Implement debate-ready architecture and testing pipeline</a:t>
                      </a:r>
                    </a:p>
                  </a:txBody>
                  <a:tcPr>
                    <a:lnR w="12700" cmpd="sng">
                      <a:noFill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3600" dirty="0">
                          <a:ea typeface="Roboto"/>
                          <a:cs typeface="Roboto"/>
                          <a:sym typeface="Roboto"/>
                        </a:rPr>
                        <a:t>Real-world testing or deployment with patients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0040257"/>
                  </a:ext>
                </a:extLst>
              </a:tr>
              <a:tr h="1318278"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3600" dirty="0">
                          <a:ea typeface="Roboto"/>
                          <a:cs typeface="Roboto"/>
                          <a:sym typeface="Roboto"/>
                        </a:rPr>
                        <a:t>Evaluate using simulated medical cases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600" dirty="0"/>
                    </a:p>
                  </a:txBody>
                  <a:tcPr>
                    <a:lnT w="12700" cmpd="sng">
                      <a:noFill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3927254"/>
                  </a:ext>
                </a:extLst>
              </a:tr>
            </a:tbl>
          </a:graphicData>
        </a:graphic>
      </p:graphicFrame>
      <p:sp>
        <p:nvSpPr>
          <p:cNvPr id="4" name="TextBox 4"/>
          <p:cNvSpPr txBox="1"/>
          <p:nvPr/>
        </p:nvSpPr>
        <p:spPr>
          <a:xfrm>
            <a:off x="838200" y="737147"/>
            <a:ext cx="7088237" cy="851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00" dirty="0">
                <a:latin typeface="Arial Black" panose="020B0A04020102020204" pitchFamily="34" charset="0"/>
                <a:ea typeface="Arimo"/>
                <a:cs typeface="Arimo"/>
                <a:sym typeface="Arimo"/>
              </a:rPr>
              <a:t>Scope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992238" y="8603754"/>
            <a:ext cx="16303526" cy="44946"/>
            <a:chOff x="0" y="0"/>
            <a:chExt cx="21738035" cy="5992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1738082" cy="59944"/>
            </a:xfrm>
            <a:custGeom>
              <a:avLst/>
              <a:gdLst/>
              <a:ahLst/>
              <a:cxnLst/>
              <a:rect l="l" t="t" r="r" b="b"/>
              <a:pathLst>
                <a:path w="21738082" h="59944">
                  <a:moveTo>
                    <a:pt x="0" y="0"/>
                  </a:moveTo>
                  <a:lnTo>
                    <a:pt x="21738082" y="0"/>
                  </a:lnTo>
                  <a:lnTo>
                    <a:pt x="21738082" y="59944"/>
                  </a:lnTo>
                  <a:lnTo>
                    <a:pt x="0" y="59944"/>
                  </a:lnTo>
                  <a:close/>
                </a:path>
              </a:pathLst>
            </a:custGeom>
            <a:solidFill>
              <a:srgbClr val="384653">
                <a:alpha val="24706"/>
              </a:srgbClr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992238" y="8767762"/>
            <a:ext cx="16303526" cy="1176338"/>
            <a:chOff x="0" y="0"/>
            <a:chExt cx="21738035" cy="1568450"/>
          </a:xfrm>
          <a:solidFill>
            <a:schemeClr val="accent3">
              <a:lumMod val="20000"/>
              <a:lumOff val="80000"/>
            </a:schemeClr>
          </a:solidFill>
        </p:grpSpPr>
        <p:sp>
          <p:nvSpPr>
            <p:cNvPr id="17" name="Freeform 17"/>
            <p:cNvSpPr/>
            <p:nvPr/>
          </p:nvSpPr>
          <p:spPr>
            <a:xfrm>
              <a:off x="0" y="0"/>
              <a:ext cx="21737955" cy="1568450"/>
            </a:xfrm>
            <a:custGeom>
              <a:avLst/>
              <a:gdLst/>
              <a:ahLst/>
              <a:cxnLst/>
              <a:rect l="l" t="t" r="r" b="b"/>
              <a:pathLst>
                <a:path w="21737955" h="1568450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21579205" y="0"/>
                  </a:lnTo>
                  <a:cubicBezTo>
                    <a:pt x="21666836" y="0"/>
                    <a:pt x="21737955" y="71120"/>
                    <a:pt x="21737955" y="158750"/>
                  </a:cubicBezTo>
                  <a:lnTo>
                    <a:pt x="21737955" y="1409700"/>
                  </a:lnTo>
                  <a:cubicBezTo>
                    <a:pt x="21737955" y="1497330"/>
                    <a:pt x="21666836" y="1568450"/>
                    <a:pt x="21579205" y="1568450"/>
                  </a:cubicBezTo>
                  <a:lnTo>
                    <a:pt x="158750" y="1568450"/>
                  </a:lnTo>
                  <a:cubicBezTo>
                    <a:pt x="71120" y="1568450"/>
                    <a:pt x="0" y="1497330"/>
                    <a:pt x="0" y="1409700"/>
                  </a:cubicBezTo>
                  <a:close/>
                </a:path>
              </a:pathLst>
            </a:custGeom>
            <a:grpFill/>
          </p:spPr>
        </p:sp>
      </p:grpSp>
      <p:grpSp>
        <p:nvGrpSpPr>
          <p:cNvPr id="18" name="Group 18"/>
          <p:cNvGrpSpPr>
            <a:grpSpLocks noChangeAspect="1"/>
          </p:cNvGrpSpPr>
          <p:nvPr/>
        </p:nvGrpSpPr>
        <p:grpSpPr>
          <a:xfrm>
            <a:off x="1322040" y="9203382"/>
            <a:ext cx="354360" cy="283518"/>
            <a:chOff x="0" y="0"/>
            <a:chExt cx="472480" cy="378023"/>
          </a:xfrm>
        </p:grpSpPr>
        <p:sp>
          <p:nvSpPr>
            <p:cNvPr id="19" name="Freeform 19" descr="preencoded.png"/>
            <p:cNvSpPr/>
            <p:nvPr/>
          </p:nvSpPr>
          <p:spPr>
            <a:xfrm>
              <a:off x="0" y="0"/>
              <a:ext cx="472440" cy="378079"/>
            </a:xfrm>
            <a:custGeom>
              <a:avLst/>
              <a:gdLst/>
              <a:ahLst/>
              <a:cxnLst/>
              <a:rect l="l" t="t" r="r" b="b"/>
              <a:pathLst>
                <a:path w="472440" h="378079">
                  <a:moveTo>
                    <a:pt x="0" y="0"/>
                  </a:moveTo>
                  <a:lnTo>
                    <a:pt x="472440" y="0"/>
                  </a:lnTo>
                  <a:lnTo>
                    <a:pt x="472440" y="378079"/>
                  </a:lnTo>
                  <a:lnTo>
                    <a:pt x="0" y="378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670" r="-8" b="-655"/>
              </a:stretch>
            </a:blipFill>
          </p:spPr>
        </p:sp>
      </p:grpSp>
      <p:sp>
        <p:nvSpPr>
          <p:cNvPr id="20" name="TextBox 20"/>
          <p:cNvSpPr txBox="1"/>
          <p:nvPr/>
        </p:nvSpPr>
        <p:spPr>
          <a:xfrm>
            <a:off x="1913632" y="9142213"/>
            <a:ext cx="15098614" cy="423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800" b="1" dirty="0">
                <a:ea typeface="Roboto Bold"/>
                <a:cs typeface="Roboto Bold"/>
                <a:sym typeface="Roboto Bold"/>
              </a:rPr>
              <a:t>SDG Alignment:</a:t>
            </a:r>
            <a:r>
              <a:rPr lang="en-US" sz="2800" dirty="0">
                <a:ea typeface="Roboto"/>
                <a:cs typeface="Roboto"/>
                <a:sym typeface="Roboto"/>
              </a:rPr>
              <a:t> Supports </a:t>
            </a:r>
            <a:r>
              <a:rPr lang="en-US" sz="2800" b="1" dirty="0">
                <a:ea typeface="Roboto Bold"/>
                <a:cs typeface="Roboto Bold"/>
                <a:sym typeface="Roboto Bold"/>
              </a:rPr>
              <a:t>SDG 3 – Good Health &amp; Well-Being</a:t>
            </a:r>
            <a:r>
              <a:rPr lang="en-US" sz="2800" dirty="0">
                <a:ea typeface="Roboto"/>
                <a:cs typeface="Roboto"/>
                <a:sym typeface="Roboto"/>
              </a:rPr>
              <a:t> through reliable AI healthcare.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Box 4"/>
          <p:cNvSpPr txBox="1"/>
          <p:nvPr/>
        </p:nvSpPr>
        <p:spPr>
          <a:xfrm>
            <a:off x="865526" y="342900"/>
            <a:ext cx="16556948" cy="8515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937"/>
              </a:lnSpc>
            </a:pPr>
            <a:r>
              <a:rPr lang="en-US" sz="5400" dirty="0">
                <a:latin typeface="Arial Black" panose="020B0A04020102020204" pitchFamily="34" charset="0"/>
                <a:ea typeface="Arimo"/>
                <a:cs typeface="Arimo"/>
                <a:sym typeface="Arimo"/>
              </a:rPr>
              <a:t>Foundational Literature: Context &amp; Links</a:t>
            </a:r>
          </a:p>
        </p:txBody>
      </p:sp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652816DC-CC6A-6F00-E292-6199243A2F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8137541"/>
              </p:ext>
            </p:extLst>
          </p:nvPr>
        </p:nvGraphicFramePr>
        <p:xfrm>
          <a:off x="1295400" y="1600201"/>
          <a:ext cx="15718749" cy="823391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794082">
                  <a:extLst>
                    <a:ext uri="{9D8B030D-6E8A-4147-A177-3AD203B41FA5}">
                      <a16:colId xmlns:a16="http://schemas.microsoft.com/office/drawing/2014/main" val="901297582"/>
                    </a:ext>
                  </a:extLst>
                </a:gridCol>
                <a:gridCol w="4336503">
                  <a:extLst>
                    <a:ext uri="{9D8B030D-6E8A-4147-A177-3AD203B41FA5}">
                      <a16:colId xmlns:a16="http://schemas.microsoft.com/office/drawing/2014/main" val="1681618396"/>
                    </a:ext>
                  </a:extLst>
                </a:gridCol>
                <a:gridCol w="4290015">
                  <a:extLst>
                    <a:ext uri="{9D8B030D-6E8A-4147-A177-3AD203B41FA5}">
                      <a16:colId xmlns:a16="http://schemas.microsoft.com/office/drawing/2014/main" val="1429360164"/>
                    </a:ext>
                  </a:extLst>
                </a:gridCol>
                <a:gridCol w="3298149">
                  <a:extLst>
                    <a:ext uri="{9D8B030D-6E8A-4147-A177-3AD203B41FA5}">
                      <a16:colId xmlns:a16="http://schemas.microsoft.com/office/drawing/2014/main" val="2204999070"/>
                    </a:ext>
                  </a:extLst>
                </a:gridCol>
              </a:tblGrid>
              <a:tr h="6757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/>
                        <a:t>Study</a:t>
                      </a:r>
                      <a:endParaRPr lang="en-US" sz="2400"/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/>
                        <a:t>Methods / Features</a:t>
                      </a:r>
                      <a:endParaRPr lang="en-US" sz="2400" dirty="0"/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/>
                        <a:t>Relevance to DoctorHive</a:t>
                      </a:r>
                      <a:endParaRPr lang="en-US" sz="2400"/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/>
                        <a:t>Limitations</a:t>
                      </a:r>
                      <a:endParaRPr lang="en-US" sz="2400" dirty="0"/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4990018"/>
                  </a:ext>
                </a:extLst>
              </a:tr>
              <a:tr h="15445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/>
                        <a:t>Bohr &amp; </a:t>
                      </a:r>
                      <a:r>
                        <a:rPr lang="en-US" sz="2400" b="1" dirty="0" err="1"/>
                        <a:t>Memarzadeh</a:t>
                      </a:r>
                      <a:r>
                        <a:rPr lang="en-US" sz="2400" b="1" dirty="0"/>
                        <a:t> (2020)</a:t>
                      </a:r>
                      <a:endParaRPr lang="en-US" sz="2400" dirty="0"/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A review of AI use in healthcare, outlining main opportunities and risks.</a:t>
                      </a: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Highlight’s reliability and safety needs; basis for DoctorHive’s consensus model.</a:t>
                      </a: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General overview, </a:t>
                      </a:r>
                      <a:r>
                        <a:rPr lang="en-US" sz="2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lacks methodological depth on MAS.</a:t>
                      </a:r>
                      <a:endParaRPr lang="en-US" sz="2400" dirty="0"/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0104064"/>
                  </a:ext>
                </a:extLst>
              </a:tr>
              <a:tr h="15445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/>
                        <a:t>Chen et al. (2020)</a:t>
                      </a:r>
                      <a:endParaRPr lang="en-US" sz="2400" dirty="0"/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MAS simulations for diagnostics and monitoring.</a:t>
                      </a: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Foundation for collaborative, distributed agent reasoning.</a:t>
                      </a: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No integration with emerging AI (e.g., LLMs, deep learning)</a:t>
                      </a: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6567129"/>
                  </a:ext>
                </a:extLst>
              </a:tr>
              <a:tr h="10887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/>
                        <a:t>Wong et al. (2021)</a:t>
                      </a:r>
                      <a:endParaRPr lang="en-US" sz="2400" dirty="0"/>
                    </a:p>
                  </a:txBody>
                  <a:tcPr marL="22406" marR="22406" marT="11203" marB="112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Review of explainable AI (XAI) techniques.</a:t>
                      </a:r>
                    </a:p>
                  </a:txBody>
                  <a:tcPr marL="22406" marR="22406" marT="11203" marB="112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DoctorHive’s focus on greater </a:t>
                      </a:r>
                      <a:r>
                        <a:rPr lang="en-US" sz="2400" dirty="0" err="1"/>
                        <a:t>explainability</a:t>
                      </a:r>
                      <a:r>
                        <a:rPr lang="en-US" sz="2400" dirty="0"/>
                        <a:t> and reliability</a:t>
                      </a:r>
                    </a:p>
                  </a:txBody>
                  <a:tcPr marL="22406" marR="22406" marT="11203" marB="112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More clinician-focused.</a:t>
                      </a:r>
                    </a:p>
                  </a:txBody>
                  <a:tcPr marL="22406" marR="22406" marT="11203" marB="112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9269872"/>
                  </a:ext>
                </a:extLst>
              </a:tr>
              <a:tr h="10887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/>
                        <a:t>Hwang &amp; </a:t>
                      </a:r>
                      <a:r>
                        <a:rPr lang="en-US" sz="2400" b="1" dirty="0" err="1"/>
                        <a:t>Kesselheim</a:t>
                      </a:r>
                      <a:r>
                        <a:rPr lang="en-US" sz="2400" b="1" dirty="0"/>
                        <a:t> (2022)</a:t>
                      </a:r>
                      <a:endParaRPr lang="en-US" sz="2400" dirty="0"/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Policy review on chatbot ethics and safety.</a:t>
                      </a: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Supports DoctorHive’s multi-agent safety and reliability approach.</a:t>
                      </a: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Lacks system-level solutions;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overlooks MAS or debate mechanisms.</a:t>
                      </a:r>
                      <a:endParaRPr lang="en-US" sz="2400" dirty="0"/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4153516"/>
                  </a:ext>
                </a:extLst>
              </a:tr>
              <a:tr h="9653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/>
                        <a:t>Lin et al. (2023)</a:t>
                      </a:r>
                      <a:endParaRPr lang="en-US" sz="2400" dirty="0"/>
                    </a:p>
                  </a:txBody>
                  <a:tcPr marL="22406" marR="22406" marT="11203" marB="112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Experimental multi-agent debate framework.</a:t>
                      </a:r>
                    </a:p>
                  </a:txBody>
                  <a:tcPr marL="22406" marR="22406" marT="11203" marB="112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Directly supports DoctorHive’s debate-driven model.</a:t>
                      </a:r>
                    </a:p>
                  </a:txBody>
                  <a:tcPr marL="22406" marR="22406" marT="11203" marB="112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Limited to controlled </a:t>
                      </a:r>
                    </a:p>
                    <a:p>
                      <a:pPr>
                        <a:buNone/>
                      </a:pPr>
                      <a:r>
                        <a:rPr lang="en-US" sz="2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experiments.</a:t>
                      </a:r>
                      <a:endParaRPr lang="en-US" sz="3200" dirty="0"/>
                    </a:p>
                  </a:txBody>
                  <a:tcPr marL="22406" marR="22406" marT="11203" marB="112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4035981"/>
                  </a:ext>
                </a:extLst>
              </a:tr>
              <a:tr h="12549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/>
                        <a:t>Zhang et al. (2024)</a:t>
                      </a:r>
                      <a:endParaRPr lang="en-US" sz="2400" dirty="0"/>
                    </a:p>
                  </a:txBody>
                  <a:tcPr marL="22406" marR="22406" marT="11203" marB="112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MAS prototype for diagnostic collaboration.</a:t>
                      </a:r>
                    </a:p>
                  </a:txBody>
                  <a:tcPr marL="22406" marR="22406" marT="11203" marB="112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Methodological base for consensus-driven reasoning.</a:t>
                      </a:r>
                    </a:p>
                  </a:txBody>
                  <a:tcPr marL="22406" marR="22406" marT="11203" marB="112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Simulated only</a:t>
                      </a:r>
                    </a:p>
                  </a:txBody>
                  <a:tcPr marL="22406" marR="22406" marT="11203" marB="112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756085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508769" y="646809"/>
            <a:ext cx="11683231" cy="6152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99"/>
              </a:lnSpc>
            </a:pPr>
            <a:r>
              <a:rPr lang="en-US" sz="5500" dirty="0">
                <a:latin typeface="Arial Black" panose="020B0A04020102020204" pitchFamily="34" charset="0"/>
                <a:ea typeface="Arimo"/>
                <a:cs typeface="Arimo"/>
                <a:sym typeface="Arimo"/>
              </a:rPr>
              <a:t>Architecture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DD42DE4-27DA-40C5-8FE2-6813206499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1943100"/>
            <a:ext cx="12573000" cy="70104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chemeClr val="accent3">
                <a:lumMod val="20000"/>
                <a:lumOff val="80000"/>
              </a:schemeClr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4">
            <a:extLst>
              <a:ext uri="{FF2B5EF4-FFF2-40B4-BE49-F238E27FC236}">
                <a16:creationId xmlns:a16="http://schemas.microsoft.com/office/drawing/2014/main" id="{6760C3C5-1B76-4F82-86E5-60236C535932}"/>
              </a:ext>
            </a:extLst>
          </p:cNvPr>
          <p:cNvSpPr txBox="1"/>
          <p:nvPr/>
        </p:nvSpPr>
        <p:spPr>
          <a:xfrm>
            <a:off x="685800" y="876300"/>
            <a:ext cx="11683231" cy="6152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99"/>
              </a:lnSpc>
            </a:pPr>
            <a:r>
              <a:rPr lang="en-US" sz="5500" dirty="0">
                <a:latin typeface="Arial Black" panose="020B0A04020102020204" pitchFamily="34" charset="0"/>
                <a:ea typeface="Arimo"/>
                <a:cs typeface="Arimo"/>
                <a:sym typeface="Arimo"/>
              </a:rPr>
              <a:t>Methodology</a:t>
            </a:r>
          </a:p>
        </p:txBody>
      </p:sp>
      <p:sp>
        <p:nvSpPr>
          <p:cNvPr id="12" name="Rectangle 8">
            <a:extLst>
              <a:ext uri="{FF2B5EF4-FFF2-40B4-BE49-F238E27FC236}">
                <a16:creationId xmlns:a16="http://schemas.microsoft.com/office/drawing/2014/main" id="{9ECDA2D1-CC4F-46CA-ACCA-52BD76D093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1518747"/>
            <a:ext cx="15849600" cy="80350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4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1.System &amp; Process</a:t>
            </a:r>
            <a:endParaRPr kumimoji="0" lang="en-US" altLang="en-US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Design:</a:t>
            </a:r>
            <a:r>
              <a:rPr kumimoji="0" lang="en-US" altLang="en-US" sz="3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Modular, Layered Architecture (Orchestrator, Agents, RAG, Database).</a:t>
            </a:r>
          </a:p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Agents:</a:t>
            </a:r>
            <a:r>
              <a:rPr kumimoji="0" lang="en-US" altLang="en-US" sz="3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LLM-based, </a:t>
            </a:r>
            <a:r>
              <a:rPr kumimoji="0" lang="en-US" altLang="en-US" sz="35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Role-Conditioned </a:t>
            </a:r>
            <a:r>
              <a:rPr kumimoji="0" lang="en-US" altLang="en-US" sz="3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Specialists.</a:t>
            </a:r>
          </a:p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RAG Grounding:</a:t>
            </a:r>
            <a:r>
              <a:rPr kumimoji="0" lang="en-US" altLang="en-US" sz="3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Integrates evidence from a </a:t>
            </a:r>
            <a:r>
              <a:rPr kumimoji="0" lang="en-US" altLang="en-US" sz="35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Medical Vector Store </a:t>
            </a:r>
            <a:r>
              <a:rPr kumimoji="0" lang="en-US" altLang="en-US" sz="3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to enforce citation and minimize hallucination.</a:t>
            </a:r>
          </a:p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Workflow:</a:t>
            </a:r>
            <a:r>
              <a:rPr kumimoji="0" lang="en-US" altLang="en-US" sz="3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Agile, iterative process</a:t>
            </a:r>
          </a:p>
        </p:txBody>
      </p:sp>
    </p:spTree>
    <p:extLst>
      <p:ext uri="{BB962C8B-B14F-4D97-AF65-F5344CB8AC3E}">
        <p14:creationId xmlns:p14="http://schemas.microsoft.com/office/powerpoint/2010/main" val="32699446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8">
            <a:extLst>
              <a:ext uri="{FF2B5EF4-FFF2-40B4-BE49-F238E27FC236}">
                <a16:creationId xmlns:a16="http://schemas.microsoft.com/office/drawing/2014/main" id="{4B19D256-6328-4C7D-8C39-4D51FA0A1D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5133781"/>
            <a:ext cx="15849600" cy="44244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4400" b="1" dirty="0"/>
              <a:t>3</a:t>
            </a:r>
            <a:r>
              <a:rPr kumimoji="0" lang="en-US" altLang="en-US" sz="4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Validation &amp; Metrics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Baseline:</a:t>
            </a:r>
            <a:r>
              <a:rPr kumimoji="0" lang="en-US" altLang="en-US" sz="3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Comparative testing against </a:t>
            </a:r>
            <a:r>
              <a:rPr kumimoji="0" lang="en-US" altLang="en-US" sz="35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Single-Agent LLMs.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Evaluation:</a:t>
            </a:r>
            <a:r>
              <a:rPr kumimoji="0" lang="en-US" altLang="en-US" sz="3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Focuses on multiple dimensions beyond accuracy.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Key Metrics:</a:t>
            </a:r>
            <a:r>
              <a:rPr kumimoji="0" lang="en-US" altLang="en-US" sz="3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35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Diagnostic Accuracy</a:t>
            </a:r>
            <a:r>
              <a:rPr kumimoji="0" lang="en-US" altLang="en-US" sz="3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35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Trust/Interpretability </a:t>
            </a:r>
            <a:r>
              <a:rPr kumimoji="0" lang="en-US" altLang="en-US" sz="3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(via surveys), and </a:t>
            </a:r>
            <a:r>
              <a:rPr kumimoji="0" lang="en-US" altLang="en-US" sz="35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Performance </a:t>
            </a:r>
            <a:r>
              <a:rPr kumimoji="0" lang="en-US" altLang="en-US" sz="3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(latency).</a:t>
            </a:r>
          </a:p>
        </p:txBody>
      </p:sp>
      <p:sp>
        <p:nvSpPr>
          <p:cNvPr id="14" name="Rectangle 10">
            <a:extLst>
              <a:ext uri="{FF2B5EF4-FFF2-40B4-BE49-F238E27FC236}">
                <a16:creationId xmlns:a16="http://schemas.microsoft.com/office/drawing/2014/main" id="{4A96CACF-1092-4745-940E-A1A12FE8F1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7418" y="800100"/>
            <a:ext cx="15849600" cy="37021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4500" b="1" dirty="0"/>
              <a:t>2</a:t>
            </a:r>
            <a:r>
              <a:rPr kumimoji="0" lang="en-US" altLang="en-US" sz="4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Debate &amp; Consensus Mechanism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Protocol:</a:t>
            </a:r>
            <a:r>
              <a:rPr kumimoji="0" lang="en-US" altLang="en-US" sz="3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Structured debate in successive rounds (</a:t>
            </a:r>
            <a:r>
              <a:rPr kumimoji="0" lang="en-US" altLang="en-US" sz="35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Claim, Counterargument, Synthesis).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Consensus:</a:t>
            </a:r>
            <a:r>
              <a:rPr kumimoji="0" lang="en-US" altLang="en-US" sz="3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Hybrid voting weighted by </a:t>
            </a:r>
            <a:r>
              <a:rPr kumimoji="0" lang="en-US" altLang="en-US" sz="35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evidence strength </a:t>
            </a:r>
            <a:r>
              <a:rPr kumimoji="0" lang="en-US" altLang="en-US" sz="3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and majority opinion.</a:t>
            </a:r>
          </a:p>
        </p:txBody>
      </p:sp>
    </p:spTree>
    <p:extLst>
      <p:ext uri="{BB962C8B-B14F-4D97-AF65-F5344CB8AC3E}">
        <p14:creationId xmlns:p14="http://schemas.microsoft.com/office/powerpoint/2010/main" val="13959413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41603"/>
            <a:ext cx="18288000" cy="10287000"/>
            <a:chOff x="0" y="0"/>
            <a:chExt cx="24384000" cy="13716000"/>
          </a:xfrm>
          <a:solidFill>
            <a:schemeClr val="bg1"/>
          </a:solidFill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grpFill/>
          </p:spPr>
        </p:sp>
      </p:grpSp>
      <p:sp>
        <p:nvSpPr>
          <p:cNvPr id="4" name="TextBox 4"/>
          <p:cNvSpPr txBox="1"/>
          <p:nvPr/>
        </p:nvSpPr>
        <p:spPr>
          <a:xfrm>
            <a:off x="1219200" y="467116"/>
            <a:ext cx="10663684" cy="6162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312"/>
              </a:lnSpc>
            </a:pPr>
            <a:r>
              <a:rPr lang="en-US" sz="5500" dirty="0">
                <a:solidFill>
                  <a:srgbClr val="2E3C4E"/>
                </a:solidFill>
                <a:latin typeface="Arial Black" panose="020B0A04020102020204" pitchFamily="34" charset="0"/>
                <a:ea typeface="Arimo"/>
                <a:cs typeface="Arimo"/>
                <a:sym typeface="Arimo"/>
              </a:rPr>
              <a:t>Goals:</a:t>
            </a:r>
          </a:p>
        </p:txBody>
      </p:sp>
      <p:graphicFrame>
        <p:nvGraphicFramePr>
          <p:cNvPr id="55" name="Diagram 54">
            <a:extLst>
              <a:ext uri="{FF2B5EF4-FFF2-40B4-BE49-F238E27FC236}">
                <a16:creationId xmlns:a16="http://schemas.microsoft.com/office/drawing/2014/main" id="{1A54B858-DC39-4666-B233-3352ED54C3D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14128289"/>
              </p:ext>
            </p:extLst>
          </p:nvPr>
        </p:nvGraphicFramePr>
        <p:xfrm>
          <a:off x="1524000" y="1333500"/>
          <a:ext cx="13258800" cy="87183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  <a:solidFill>
            <a:schemeClr val="bg1"/>
          </a:solidFill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842963" y="800100"/>
            <a:ext cx="15543162" cy="8494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00" dirty="0">
                <a:latin typeface="Arial Black" panose="020B0A04020102020204" pitchFamily="34" charset="0"/>
                <a:ea typeface="Arimo"/>
                <a:cs typeface="Arimo"/>
                <a:sym typeface="Arimo"/>
              </a:rPr>
              <a:t>Requirements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838200" y="2305496"/>
            <a:ext cx="647402" cy="647402"/>
            <a:chOff x="0" y="0"/>
            <a:chExt cx="863203" cy="863203"/>
          </a:xfrm>
          <a:solidFill>
            <a:schemeClr val="accent3">
              <a:lumMod val="20000"/>
              <a:lumOff val="80000"/>
            </a:schemeClr>
          </a:solidFill>
        </p:grpSpPr>
        <p:sp>
          <p:nvSpPr>
            <p:cNvPr id="6" name="Freeform 6"/>
            <p:cNvSpPr/>
            <p:nvPr/>
          </p:nvSpPr>
          <p:spPr>
            <a:xfrm>
              <a:off x="6350" y="6350"/>
              <a:ext cx="850519" cy="850519"/>
            </a:xfrm>
            <a:custGeom>
              <a:avLst/>
              <a:gdLst/>
              <a:ahLst/>
              <a:cxnLst/>
              <a:rect l="l" t="t" r="r" b="b"/>
              <a:pathLst>
                <a:path w="850519" h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769"/>
                  </a:lnTo>
                  <a:cubicBezTo>
                    <a:pt x="850519" y="779399"/>
                    <a:pt x="779399" y="850519"/>
                    <a:pt x="691769" y="850519"/>
                  </a:cubicBezTo>
                  <a:lnTo>
                    <a:pt x="158750" y="850519"/>
                  </a:lnTo>
                  <a:cubicBezTo>
                    <a:pt x="71120" y="850519"/>
                    <a:pt x="0" y="779399"/>
                    <a:pt x="0" y="691769"/>
                  </a:cubicBezTo>
                  <a:close/>
                </a:path>
              </a:pathLst>
            </a:custGeom>
            <a:grpFill/>
          </p:spPr>
        </p:sp>
        <p:sp>
          <p:nvSpPr>
            <p:cNvPr id="7" name="Freeform 7"/>
            <p:cNvSpPr/>
            <p:nvPr/>
          </p:nvSpPr>
          <p:spPr>
            <a:xfrm>
              <a:off x="0" y="0"/>
              <a:ext cx="863219" cy="863219"/>
            </a:xfrm>
            <a:custGeom>
              <a:avLst/>
              <a:gdLst/>
              <a:ahLst/>
              <a:cxnLst/>
              <a:rect l="l" t="t" r="r" b="b"/>
              <a:pathLst>
                <a:path w="863219" h="863219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cubicBezTo>
                    <a:pt x="789305" y="0"/>
                    <a:pt x="863219" y="73914"/>
                    <a:pt x="863219" y="165100"/>
                  </a:cubicBezTo>
                  <a:lnTo>
                    <a:pt x="856869" y="165100"/>
                  </a:lnTo>
                  <a:lnTo>
                    <a:pt x="863219" y="165100"/>
                  </a:lnTo>
                  <a:lnTo>
                    <a:pt x="863219" y="698119"/>
                  </a:lnTo>
                  <a:lnTo>
                    <a:pt x="856869" y="698119"/>
                  </a:lnTo>
                  <a:lnTo>
                    <a:pt x="863219" y="698119"/>
                  </a:lnTo>
                  <a:cubicBezTo>
                    <a:pt x="863219" y="789305"/>
                    <a:pt x="789305" y="863219"/>
                    <a:pt x="698119" y="863219"/>
                  </a:cubicBezTo>
                  <a:lnTo>
                    <a:pt x="698119" y="856869"/>
                  </a:lnTo>
                  <a:lnTo>
                    <a:pt x="698119" y="863219"/>
                  </a:lnTo>
                  <a:lnTo>
                    <a:pt x="165100" y="863219"/>
                  </a:lnTo>
                  <a:lnTo>
                    <a:pt x="165100" y="856869"/>
                  </a:lnTo>
                  <a:lnTo>
                    <a:pt x="165100" y="863219"/>
                  </a:lnTo>
                  <a:cubicBezTo>
                    <a:pt x="73914" y="863219"/>
                    <a:pt x="0" y="789305"/>
                    <a:pt x="0" y="698119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698119"/>
                  </a:lnTo>
                  <a:lnTo>
                    <a:pt x="6350" y="698119"/>
                  </a:lnTo>
                  <a:lnTo>
                    <a:pt x="12700" y="698119"/>
                  </a:lnTo>
                  <a:cubicBezTo>
                    <a:pt x="12700" y="782320"/>
                    <a:pt x="80899" y="850519"/>
                    <a:pt x="165100" y="850519"/>
                  </a:cubicBezTo>
                  <a:lnTo>
                    <a:pt x="698119" y="850519"/>
                  </a:lnTo>
                  <a:cubicBezTo>
                    <a:pt x="782320" y="850519"/>
                    <a:pt x="850519" y="782320"/>
                    <a:pt x="850519" y="698119"/>
                  </a:cubicBezTo>
                  <a:lnTo>
                    <a:pt x="850519" y="165100"/>
                  </a:lnTo>
                  <a:cubicBezTo>
                    <a:pt x="850519" y="80899"/>
                    <a:pt x="782320" y="12700"/>
                    <a:pt x="698119" y="12700"/>
                  </a:cubicBezTo>
                  <a:lnTo>
                    <a:pt x="165100" y="12700"/>
                  </a:lnTo>
                  <a:lnTo>
                    <a:pt x="165100" y="6350"/>
                  </a:lnTo>
                  <a:lnTo>
                    <a:pt x="165100" y="12700"/>
                  </a:lnTo>
                  <a:cubicBezTo>
                    <a:pt x="80899" y="12700"/>
                    <a:pt x="12700" y="80899"/>
                    <a:pt x="12700" y="165100"/>
                  </a:cubicBezTo>
                  <a:close/>
                </a:path>
              </a:pathLst>
            </a:custGeom>
            <a:grpFill/>
          </p:spPr>
        </p:sp>
      </p:grpSp>
      <p:sp>
        <p:nvSpPr>
          <p:cNvPr id="8" name="TextBox 8"/>
          <p:cNvSpPr txBox="1"/>
          <p:nvPr/>
        </p:nvSpPr>
        <p:spPr>
          <a:xfrm>
            <a:off x="949300" y="2401491"/>
            <a:ext cx="425202" cy="429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12"/>
              </a:lnSpc>
            </a:pPr>
            <a:r>
              <a:rPr lang="en-US" sz="3312" b="1" dirty="0">
                <a:ea typeface="Arimo"/>
                <a:cs typeface="Arimo"/>
                <a:sym typeface="Arimo"/>
              </a:rPr>
              <a:t>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680954" y="2369493"/>
            <a:ext cx="6848772" cy="8815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3500" dirty="0">
                <a:ea typeface="Arimo"/>
                <a:cs typeface="Arimo"/>
                <a:sym typeface="Arimo"/>
              </a:rPr>
              <a:t>Modular, scalable multi-agent architecture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9167067" y="2305496"/>
            <a:ext cx="647403" cy="647402"/>
            <a:chOff x="0" y="0"/>
            <a:chExt cx="863203" cy="863203"/>
          </a:xfrm>
          <a:solidFill>
            <a:schemeClr val="accent3">
              <a:lumMod val="20000"/>
              <a:lumOff val="80000"/>
            </a:schemeClr>
          </a:solidFill>
        </p:grpSpPr>
        <p:sp>
          <p:nvSpPr>
            <p:cNvPr id="11" name="Freeform 11"/>
            <p:cNvSpPr/>
            <p:nvPr/>
          </p:nvSpPr>
          <p:spPr>
            <a:xfrm>
              <a:off x="6350" y="6350"/>
              <a:ext cx="850519" cy="850519"/>
            </a:xfrm>
            <a:custGeom>
              <a:avLst/>
              <a:gdLst/>
              <a:ahLst/>
              <a:cxnLst/>
              <a:rect l="l" t="t" r="r" b="b"/>
              <a:pathLst>
                <a:path w="850519" h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769"/>
                  </a:lnTo>
                  <a:cubicBezTo>
                    <a:pt x="850519" y="779399"/>
                    <a:pt x="779399" y="850519"/>
                    <a:pt x="691769" y="850519"/>
                  </a:cubicBezTo>
                  <a:lnTo>
                    <a:pt x="158750" y="850519"/>
                  </a:lnTo>
                  <a:cubicBezTo>
                    <a:pt x="71120" y="850519"/>
                    <a:pt x="0" y="779399"/>
                    <a:pt x="0" y="691769"/>
                  </a:cubicBezTo>
                  <a:close/>
                </a:path>
              </a:pathLst>
            </a:custGeom>
            <a:grpFill/>
          </p:spPr>
        </p:sp>
        <p:sp>
          <p:nvSpPr>
            <p:cNvPr id="12" name="Freeform 12"/>
            <p:cNvSpPr/>
            <p:nvPr/>
          </p:nvSpPr>
          <p:spPr>
            <a:xfrm>
              <a:off x="0" y="0"/>
              <a:ext cx="863219" cy="863219"/>
            </a:xfrm>
            <a:custGeom>
              <a:avLst/>
              <a:gdLst/>
              <a:ahLst/>
              <a:cxnLst/>
              <a:rect l="l" t="t" r="r" b="b"/>
              <a:pathLst>
                <a:path w="863219" h="863219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cubicBezTo>
                    <a:pt x="789305" y="0"/>
                    <a:pt x="863219" y="73914"/>
                    <a:pt x="863219" y="165100"/>
                  </a:cubicBezTo>
                  <a:lnTo>
                    <a:pt x="856869" y="165100"/>
                  </a:lnTo>
                  <a:lnTo>
                    <a:pt x="863219" y="165100"/>
                  </a:lnTo>
                  <a:lnTo>
                    <a:pt x="863219" y="698119"/>
                  </a:lnTo>
                  <a:lnTo>
                    <a:pt x="856869" y="698119"/>
                  </a:lnTo>
                  <a:lnTo>
                    <a:pt x="863219" y="698119"/>
                  </a:lnTo>
                  <a:cubicBezTo>
                    <a:pt x="863219" y="789305"/>
                    <a:pt x="789305" y="863219"/>
                    <a:pt x="698119" y="863219"/>
                  </a:cubicBezTo>
                  <a:lnTo>
                    <a:pt x="698119" y="856869"/>
                  </a:lnTo>
                  <a:lnTo>
                    <a:pt x="698119" y="863219"/>
                  </a:lnTo>
                  <a:lnTo>
                    <a:pt x="165100" y="863219"/>
                  </a:lnTo>
                  <a:lnTo>
                    <a:pt x="165100" y="856869"/>
                  </a:lnTo>
                  <a:lnTo>
                    <a:pt x="165100" y="863219"/>
                  </a:lnTo>
                  <a:cubicBezTo>
                    <a:pt x="73914" y="863219"/>
                    <a:pt x="0" y="789305"/>
                    <a:pt x="0" y="698119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698119"/>
                  </a:lnTo>
                  <a:lnTo>
                    <a:pt x="6350" y="698119"/>
                  </a:lnTo>
                  <a:lnTo>
                    <a:pt x="12700" y="698119"/>
                  </a:lnTo>
                  <a:cubicBezTo>
                    <a:pt x="12700" y="782320"/>
                    <a:pt x="80899" y="850519"/>
                    <a:pt x="165100" y="850519"/>
                  </a:cubicBezTo>
                  <a:lnTo>
                    <a:pt x="698119" y="850519"/>
                  </a:lnTo>
                  <a:cubicBezTo>
                    <a:pt x="782320" y="850519"/>
                    <a:pt x="850519" y="782320"/>
                    <a:pt x="850519" y="698119"/>
                  </a:cubicBezTo>
                  <a:lnTo>
                    <a:pt x="850519" y="165100"/>
                  </a:lnTo>
                  <a:cubicBezTo>
                    <a:pt x="850519" y="80899"/>
                    <a:pt x="782320" y="12700"/>
                    <a:pt x="698119" y="12700"/>
                  </a:cubicBezTo>
                  <a:lnTo>
                    <a:pt x="165100" y="12700"/>
                  </a:lnTo>
                  <a:lnTo>
                    <a:pt x="165100" y="6350"/>
                  </a:lnTo>
                  <a:lnTo>
                    <a:pt x="165100" y="12700"/>
                  </a:lnTo>
                  <a:cubicBezTo>
                    <a:pt x="80899" y="12700"/>
                    <a:pt x="12700" y="80899"/>
                    <a:pt x="12700" y="165100"/>
                  </a:cubicBezTo>
                  <a:close/>
                </a:path>
              </a:pathLst>
            </a:custGeom>
            <a:grpFill/>
          </p:spPr>
        </p:sp>
      </p:grpSp>
      <p:sp>
        <p:nvSpPr>
          <p:cNvPr id="13" name="TextBox 13"/>
          <p:cNvSpPr txBox="1"/>
          <p:nvPr/>
        </p:nvSpPr>
        <p:spPr>
          <a:xfrm>
            <a:off x="9278169" y="2401491"/>
            <a:ext cx="425203" cy="429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12"/>
              </a:lnSpc>
            </a:pPr>
            <a:r>
              <a:rPr lang="en-US" sz="3312" b="1" dirty="0">
                <a:ea typeface="Arimo"/>
                <a:cs typeface="Arimo"/>
                <a:sym typeface="Arimo"/>
              </a:rPr>
              <a:t>2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093225" y="2369493"/>
            <a:ext cx="7053262" cy="8815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3500" dirty="0">
                <a:ea typeface="Arimo"/>
                <a:cs typeface="Arimo"/>
                <a:sym typeface="Arimo"/>
              </a:rPr>
              <a:t>Transparent logging of each agent's reasoning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42963" y="4186089"/>
            <a:ext cx="4252912" cy="5466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4500" b="1" dirty="0">
                <a:latin typeface="Arial Black" panose="020B0A04020102020204" pitchFamily="34" charset="0"/>
                <a:ea typeface="Arimo"/>
                <a:cs typeface="Arial" panose="020B0604020202020204" pitchFamily="34" charset="0"/>
                <a:sym typeface="Arimo"/>
              </a:rPr>
              <a:t>Constraints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38200" y="4875911"/>
            <a:ext cx="16303526" cy="435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312"/>
              </a:lnSpc>
              <a:buFont typeface="Arial"/>
              <a:buChar char="•"/>
            </a:pPr>
            <a:r>
              <a:rPr lang="en-US" sz="3500" dirty="0">
                <a:ea typeface="Roboto"/>
                <a:cs typeface="Arial" panose="020B0604020202020204" pitchFamily="34" charset="0"/>
                <a:sym typeface="Roboto"/>
              </a:rPr>
              <a:t>Response latency &lt; 10 seconds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38200" y="5483475"/>
            <a:ext cx="16303526" cy="435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312"/>
              </a:lnSpc>
              <a:buFont typeface="Arial"/>
              <a:buChar char="•"/>
            </a:pPr>
            <a:r>
              <a:rPr lang="en-US" sz="3500" dirty="0">
                <a:ea typeface="Roboto"/>
                <a:cs typeface="Arial" panose="020B0604020202020204" pitchFamily="34" charset="0"/>
                <a:sym typeface="Roboto"/>
              </a:rPr>
              <a:t>High computation for concurrent agents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38200" y="6649132"/>
            <a:ext cx="8439969" cy="5419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4500" b="1" dirty="0">
                <a:latin typeface="Arial Black" panose="020B0A04020102020204" pitchFamily="34" charset="0"/>
                <a:ea typeface="Arimo"/>
                <a:cs typeface="Arial" panose="020B0604020202020204" pitchFamily="34" charset="0"/>
                <a:sym typeface="Arimo"/>
              </a:rPr>
              <a:t>Limitations and Mitigation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42963" y="7436346"/>
            <a:ext cx="16303526" cy="435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312"/>
              </a:lnSpc>
              <a:buFont typeface="Arial"/>
              <a:buChar char="•"/>
            </a:pPr>
            <a:r>
              <a:rPr lang="en-US" sz="3500" b="1" dirty="0">
                <a:ea typeface="Roboto Bold"/>
                <a:cs typeface="Roboto Bold"/>
                <a:sym typeface="Roboto Bold"/>
              </a:rPr>
              <a:t>Hallucinations:</a:t>
            </a:r>
            <a:r>
              <a:rPr lang="en-US" sz="3500" dirty="0">
                <a:ea typeface="Roboto"/>
                <a:cs typeface="Arial" panose="020B0604020202020204" pitchFamily="34" charset="0"/>
                <a:sym typeface="Roboto"/>
              </a:rPr>
              <a:t> RAG grounding planned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42962" y="8168377"/>
            <a:ext cx="16303526" cy="435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312"/>
              </a:lnSpc>
              <a:buFont typeface="Arial"/>
              <a:buChar char="•"/>
            </a:pPr>
            <a:r>
              <a:rPr lang="en-US" sz="3500" b="1" dirty="0">
                <a:ea typeface="Roboto Bold"/>
                <a:cs typeface="Roboto Bold"/>
                <a:sym typeface="Roboto Bold"/>
              </a:rPr>
              <a:t>No real data: </a:t>
            </a:r>
            <a:r>
              <a:rPr lang="en-US" sz="3500" dirty="0">
                <a:ea typeface="Roboto Bold"/>
                <a:cs typeface="Roboto Bold"/>
                <a:sym typeface="Roboto Bold"/>
              </a:rPr>
              <a:t>Can’t </a:t>
            </a:r>
            <a:r>
              <a:rPr lang="en-US" sz="3500">
                <a:ea typeface="Roboto Bold"/>
                <a:cs typeface="Roboto Bold"/>
                <a:sym typeface="Roboto Bold"/>
              </a:rPr>
              <a:t>train model</a:t>
            </a:r>
            <a:endParaRPr lang="en-US" sz="3500" dirty="0"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838200" y="8876163"/>
            <a:ext cx="16303526" cy="435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312"/>
              </a:lnSpc>
              <a:buFont typeface="Arial"/>
              <a:buChar char="•"/>
            </a:pPr>
            <a:r>
              <a:rPr lang="en-US" sz="3500" b="1" dirty="0">
                <a:ea typeface="Roboto Bold"/>
                <a:cs typeface="Roboto Bold"/>
                <a:sym typeface="Roboto Bold"/>
              </a:rPr>
              <a:t>Advisory use:</a:t>
            </a:r>
            <a:r>
              <a:rPr lang="en-US" sz="3500" dirty="0">
                <a:ea typeface="Roboto"/>
                <a:cs typeface="Arial" panose="020B0604020202020204" pitchFamily="34" charset="0"/>
                <a:sym typeface="Roboto"/>
              </a:rPr>
              <a:t> Supports, not replaces, clinical judgment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  <a:solidFill>
            <a:schemeClr val="bg1"/>
          </a:solidFill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1072923" y="0"/>
            <a:ext cx="7200900" cy="10287000"/>
            <a:chOff x="0" y="0"/>
            <a:chExt cx="9601200" cy="13716000"/>
          </a:xfrm>
        </p:grpSpPr>
        <p:sp>
          <p:nvSpPr>
            <p:cNvPr id="5" name="Freeform 5" descr="preencoded.png"/>
            <p:cNvSpPr/>
            <p:nvPr/>
          </p:nvSpPr>
          <p:spPr>
            <a:xfrm>
              <a:off x="0" y="0"/>
              <a:ext cx="9601200" cy="13716000"/>
            </a:xfrm>
            <a:custGeom>
              <a:avLst/>
              <a:gdLst/>
              <a:ahLst/>
              <a:cxnLst/>
              <a:rect l="l" t="t" r="r" b="b"/>
              <a:pathLst>
                <a:path w="9601200" h="13716000">
                  <a:moveTo>
                    <a:pt x="0" y="0"/>
                  </a:moveTo>
                  <a:lnTo>
                    <a:pt x="9601200" y="0"/>
                  </a:lnTo>
                  <a:lnTo>
                    <a:pt x="96012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522387" y="615846"/>
            <a:ext cx="9445526" cy="17367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00" dirty="0">
                <a:latin typeface="Arial Black" panose="020B0A04020102020204" pitchFamily="34" charset="0"/>
                <a:ea typeface="Arimo"/>
                <a:cs typeface="Arimo"/>
                <a:sym typeface="Arimo"/>
              </a:rPr>
              <a:t>Prototype &amp; Experimental Design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60201" y="3437392"/>
            <a:ext cx="5359599" cy="25391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800" b="1" dirty="0"/>
              <a:t>Core Functionality:</a:t>
            </a:r>
            <a:r>
              <a:rPr lang="en-US" sz="2800" dirty="0"/>
              <a:t> Working pipeline of GP Triage and Specialist Debate.</a:t>
            </a:r>
          </a:p>
          <a:p>
            <a:pPr algn="l">
              <a:lnSpc>
                <a:spcPts val="3312"/>
              </a:lnSpc>
            </a:pPr>
            <a:endParaRPr lang="en-US" sz="1000" dirty="0"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  <a:p>
            <a:pPr algn="l">
              <a:lnSpc>
                <a:spcPts val="3312"/>
              </a:lnSpc>
            </a:pPr>
            <a:r>
              <a:rPr lang="en-US" sz="2800" b="1" dirty="0"/>
              <a:t>Design:</a:t>
            </a:r>
            <a:r>
              <a:rPr lang="en-US" sz="2800" dirty="0"/>
              <a:t> </a:t>
            </a:r>
          </a:p>
          <a:p>
            <a:pPr algn="l">
              <a:lnSpc>
                <a:spcPts val="3312"/>
              </a:lnSpc>
            </a:pPr>
            <a:r>
              <a:rPr lang="en-US" sz="2800" dirty="0"/>
              <a:t>Modular architecture ready for Consensus and RAG integration.</a:t>
            </a:r>
            <a:endParaRPr lang="en-US" sz="2800" dirty="0"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6299002" y="3437392"/>
            <a:ext cx="5116412" cy="29623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800" b="1" dirty="0"/>
              <a:t>Input:</a:t>
            </a:r>
            <a:r>
              <a:rPr lang="en-US" sz="2800" dirty="0"/>
              <a:t> Simulated patient cases and curated Medical Knowledge Base.</a:t>
            </a:r>
          </a:p>
          <a:p>
            <a:pPr algn="l">
              <a:lnSpc>
                <a:spcPts val="3312"/>
              </a:lnSpc>
            </a:pPr>
            <a:endParaRPr lang="en-US" sz="2800" dirty="0"/>
          </a:p>
          <a:p>
            <a:pPr algn="l">
              <a:lnSpc>
                <a:spcPts val="3312"/>
              </a:lnSpc>
            </a:pPr>
            <a:r>
              <a:rPr lang="en-US" sz="2800" b="1" dirty="0"/>
              <a:t>Storage:</a:t>
            </a:r>
            <a:r>
              <a:rPr lang="en-US" sz="2800" dirty="0"/>
              <a:t> </a:t>
            </a:r>
          </a:p>
          <a:p>
            <a:pPr algn="l">
              <a:lnSpc>
                <a:spcPts val="3312"/>
              </a:lnSpc>
            </a:pPr>
            <a:r>
              <a:rPr lang="en-US" sz="2800" dirty="0"/>
              <a:t>PostgreSQL/</a:t>
            </a:r>
            <a:r>
              <a:rPr lang="en-US" sz="2800" dirty="0" err="1"/>
              <a:t>pgvector</a:t>
            </a:r>
            <a:r>
              <a:rPr lang="en-US" sz="2800" dirty="0"/>
              <a:t> database stores structured data and RAG embeddings.</a:t>
            </a:r>
            <a:endParaRPr lang="en-US" sz="2800" dirty="0"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765274" y="7353300"/>
            <a:ext cx="11121926" cy="25391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800" b="1" dirty="0"/>
              <a:t>Backend Stack:</a:t>
            </a:r>
            <a:r>
              <a:rPr lang="en-US" sz="2800" dirty="0"/>
              <a:t> Python (</a:t>
            </a:r>
            <a:r>
              <a:rPr lang="en-US" sz="2800" dirty="0" err="1"/>
              <a:t>FastAPI</a:t>
            </a:r>
            <a:r>
              <a:rPr lang="en-US" sz="2800" dirty="0"/>
              <a:t>/</a:t>
            </a:r>
            <a:r>
              <a:rPr lang="en-US" sz="2800" dirty="0" err="1"/>
              <a:t>LangChain</a:t>
            </a:r>
            <a:r>
              <a:rPr lang="en-US" sz="2800" dirty="0"/>
              <a:t>) with PostgreSQL.</a:t>
            </a:r>
          </a:p>
          <a:p>
            <a:pPr algn="l">
              <a:lnSpc>
                <a:spcPts val="3312"/>
              </a:lnSpc>
            </a:pPr>
            <a:endParaRPr lang="en-US" sz="2800" dirty="0"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  <a:p>
            <a:pPr algn="l">
              <a:lnSpc>
                <a:spcPts val="3312"/>
              </a:lnSpc>
            </a:pPr>
            <a:r>
              <a:rPr lang="en-US" sz="2800" b="1" dirty="0"/>
              <a:t>Frontend Stack:</a:t>
            </a:r>
            <a:r>
              <a:rPr lang="en-US" sz="2800" dirty="0"/>
              <a:t> Patient-facing Web Interface via </a:t>
            </a:r>
            <a:r>
              <a:rPr lang="en-US" sz="2800" b="1" dirty="0"/>
              <a:t>React.js</a:t>
            </a:r>
            <a:r>
              <a:rPr lang="en-US" sz="2800" dirty="0"/>
              <a:t>.</a:t>
            </a:r>
            <a:endParaRPr lang="en-US" sz="2800" dirty="0"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  <a:p>
            <a:pPr algn="l">
              <a:lnSpc>
                <a:spcPts val="3312"/>
              </a:lnSpc>
            </a:pPr>
            <a:endParaRPr lang="en-US" sz="2800" dirty="0"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  <a:p>
            <a:pPr algn="l">
              <a:lnSpc>
                <a:spcPts val="3312"/>
              </a:lnSpc>
            </a:pPr>
            <a:r>
              <a:rPr lang="en-US" sz="2800" b="1" dirty="0"/>
              <a:t>Cloud Strategy:</a:t>
            </a:r>
            <a:r>
              <a:rPr lang="en-US" sz="2800" dirty="0"/>
              <a:t> Containerized deployment using Docker/Kubernetes on </a:t>
            </a:r>
            <a:r>
              <a:rPr lang="en-US" sz="2800" b="1" dirty="0"/>
              <a:t>AWS/Google Cloud</a:t>
            </a:r>
            <a:r>
              <a:rPr lang="en-US" sz="2800" dirty="0"/>
              <a:t> (Backend) and </a:t>
            </a:r>
            <a:r>
              <a:rPr lang="en-US" sz="2800" b="1" dirty="0" err="1"/>
              <a:t>Vercel</a:t>
            </a:r>
            <a:r>
              <a:rPr lang="en-US" sz="2800" dirty="0"/>
              <a:t> (Frontend).</a:t>
            </a:r>
            <a:endParaRPr lang="en-US" sz="2800" dirty="0"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0164B28-E125-64CD-8C7E-3AA597264B66}"/>
              </a:ext>
            </a:extLst>
          </p:cNvPr>
          <p:cNvSpPr/>
          <p:nvPr/>
        </p:nvSpPr>
        <p:spPr>
          <a:xfrm>
            <a:off x="633285" y="2583181"/>
            <a:ext cx="5359599" cy="664789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854835" y="2689276"/>
            <a:ext cx="3544044" cy="436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3200" b="1" dirty="0">
                <a:ea typeface="Arimo"/>
                <a:cs typeface="Arimo"/>
                <a:sym typeface="Arimo"/>
              </a:rPr>
              <a:t>Prototype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22A11BB-8822-062D-58AA-579E67716567}"/>
              </a:ext>
            </a:extLst>
          </p:cNvPr>
          <p:cNvSpPr/>
          <p:nvPr/>
        </p:nvSpPr>
        <p:spPr>
          <a:xfrm>
            <a:off x="6161188" y="2583181"/>
            <a:ext cx="5116412" cy="664789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6324601" y="2732988"/>
            <a:ext cx="3544044" cy="436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3200" b="1" dirty="0">
                <a:ea typeface="Arimo"/>
                <a:cs typeface="Arimo"/>
                <a:sym typeface="Arimo"/>
              </a:rPr>
              <a:t>Data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3384454E-EB67-8A61-2C69-2C72835EE12E}"/>
              </a:ext>
            </a:extLst>
          </p:cNvPr>
          <p:cNvSpPr/>
          <p:nvPr/>
        </p:nvSpPr>
        <p:spPr>
          <a:xfrm>
            <a:off x="700237" y="6591300"/>
            <a:ext cx="4655811" cy="664789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765274" y="6665497"/>
            <a:ext cx="4252912" cy="5027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3200" b="1" dirty="0">
                <a:ea typeface="Arimo"/>
                <a:cs typeface="Arimo"/>
                <a:sym typeface="Arimo"/>
              </a:rPr>
              <a:t>Deployment Plan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  <a:solidFill>
            <a:schemeClr val="bg1"/>
          </a:solidFill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992238" y="1363712"/>
            <a:ext cx="9828162" cy="8515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00" dirty="0">
                <a:latin typeface="Arial Black" panose="020B0A04020102020204" pitchFamily="34" charset="0"/>
                <a:ea typeface="Arimo"/>
                <a:cs typeface="Arimo"/>
                <a:sym typeface="Arimo"/>
              </a:rPr>
              <a:t>Conclusion &amp; Impact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685801" y="2534179"/>
            <a:ext cx="5259597" cy="3745230"/>
            <a:chOff x="0" y="0"/>
            <a:chExt cx="7006630" cy="3879255"/>
          </a:xfrm>
          <a:solidFill>
            <a:schemeClr val="accent3">
              <a:lumMod val="20000"/>
              <a:lumOff val="80000"/>
            </a:schemeClr>
          </a:solidFill>
        </p:grpSpPr>
        <p:sp>
          <p:nvSpPr>
            <p:cNvPr id="6" name="Freeform 6"/>
            <p:cNvSpPr/>
            <p:nvPr/>
          </p:nvSpPr>
          <p:spPr>
            <a:xfrm>
              <a:off x="6350" y="6350"/>
              <a:ext cx="6994017" cy="3866515"/>
            </a:xfrm>
            <a:custGeom>
              <a:avLst/>
              <a:gdLst/>
              <a:ahLst/>
              <a:cxnLst/>
              <a:rect l="l" t="t" r="r" b="b"/>
              <a:pathLst>
                <a:path w="6994017" h="3866515">
                  <a:moveTo>
                    <a:pt x="0" y="907288"/>
                  </a:moveTo>
                  <a:cubicBezTo>
                    <a:pt x="0" y="406273"/>
                    <a:pt x="406781" y="0"/>
                    <a:pt x="908685" y="0"/>
                  </a:cubicBezTo>
                  <a:lnTo>
                    <a:pt x="6085332" y="0"/>
                  </a:lnTo>
                  <a:cubicBezTo>
                    <a:pt x="6587109" y="0"/>
                    <a:pt x="6994017" y="406273"/>
                    <a:pt x="6994017" y="907288"/>
                  </a:cubicBezTo>
                  <a:lnTo>
                    <a:pt x="6994017" y="2959227"/>
                  </a:lnTo>
                  <a:cubicBezTo>
                    <a:pt x="6994017" y="3460369"/>
                    <a:pt x="6587236" y="3866515"/>
                    <a:pt x="6085332" y="3866515"/>
                  </a:cubicBezTo>
                  <a:lnTo>
                    <a:pt x="908685" y="3866515"/>
                  </a:lnTo>
                  <a:cubicBezTo>
                    <a:pt x="406781" y="3866515"/>
                    <a:pt x="0" y="3460369"/>
                    <a:pt x="0" y="2959227"/>
                  </a:cubicBezTo>
                  <a:close/>
                </a:path>
              </a:pathLst>
            </a:custGeom>
            <a:grpFill/>
          </p:spPr>
        </p:sp>
        <p:sp>
          <p:nvSpPr>
            <p:cNvPr id="7" name="Freeform 7"/>
            <p:cNvSpPr/>
            <p:nvPr/>
          </p:nvSpPr>
          <p:spPr>
            <a:xfrm>
              <a:off x="0" y="0"/>
              <a:ext cx="7006717" cy="3879215"/>
            </a:xfrm>
            <a:custGeom>
              <a:avLst/>
              <a:gdLst/>
              <a:ahLst/>
              <a:cxnLst/>
              <a:rect l="l" t="t" r="r" b="b"/>
              <a:pathLst>
                <a:path w="7006717" h="3879215">
                  <a:moveTo>
                    <a:pt x="0" y="913638"/>
                  </a:moveTo>
                  <a:cubicBezTo>
                    <a:pt x="0" y="409067"/>
                    <a:pt x="409702" y="0"/>
                    <a:pt x="915035" y="0"/>
                  </a:cubicBezTo>
                  <a:lnTo>
                    <a:pt x="6091682" y="0"/>
                  </a:lnTo>
                  <a:lnTo>
                    <a:pt x="6091682" y="6350"/>
                  </a:lnTo>
                  <a:lnTo>
                    <a:pt x="6091682" y="0"/>
                  </a:lnTo>
                  <a:cubicBezTo>
                    <a:pt x="6597015" y="0"/>
                    <a:pt x="7006717" y="409067"/>
                    <a:pt x="7006717" y="913638"/>
                  </a:cubicBezTo>
                  <a:lnTo>
                    <a:pt x="7000367" y="913638"/>
                  </a:lnTo>
                  <a:lnTo>
                    <a:pt x="7006717" y="913638"/>
                  </a:lnTo>
                  <a:lnTo>
                    <a:pt x="7006717" y="2965577"/>
                  </a:lnTo>
                  <a:lnTo>
                    <a:pt x="7000367" y="2965577"/>
                  </a:lnTo>
                  <a:lnTo>
                    <a:pt x="7006717" y="2965577"/>
                  </a:lnTo>
                  <a:cubicBezTo>
                    <a:pt x="7006717" y="3470148"/>
                    <a:pt x="6597015" y="3879215"/>
                    <a:pt x="6091682" y="3879215"/>
                  </a:cubicBezTo>
                  <a:lnTo>
                    <a:pt x="6091682" y="3872865"/>
                  </a:lnTo>
                  <a:lnTo>
                    <a:pt x="6091682" y="3879215"/>
                  </a:lnTo>
                  <a:lnTo>
                    <a:pt x="915035" y="3879215"/>
                  </a:lnTo>
                  <a:lnTo>
                    <a:pt x="915035" y="3872865"/>
                  </a:lnTo>
                  <a:lnTo>
                    <a:pt x="915035" y="3879215"/>
                  </a:lnTo>
                  <a:cubicBezTo>
                    <a:pt x="409702" y="3879215"/>
                    <a:pt x="0" y="3470148"/>
                    <a:pt x="0" y="2965577"/>
                  </a:cubicBezTo>
                  <a:lnTo>
                    <a:pt x="0" y="913638"/>
                  </a:lnTo>
                  <a:lnTo>
                    <a:pt x="6350" y="913638"/>
                  </a:lnTo>
                  <a:lnTo>
                    <a:pt x="0" y="913638"/>
                  </a:lnTo>
                  <a:moveTo>
                    <a:pt x="12700" y="913638"/>
                  </a:moveTo>
                  <a:lnTo>
                    <a:pt x="12700" y="2965577"/>
                  </a:lnTo>
                  <a:lnTo>
                    <a:pt x="6350" y="2965577"/>
                  </a:lnTo>
                  <a:lnTo>
                    <a:pt x="12700" y="2965577"/>
                  </a:lnTo>
                  <a:cubicBezTo>
                    <a:pt x="12700" y="3463163"/>
                    <a:pt x="416687" y="3866515"/>
                    <a:pt x="915035" y="3866515"/>
                  </a:cubicBezTo>
                  <a:lnTo>
                    <a:pt x="6091682" y="3866515"/>
                  </a:lnTo>
                  <a:cubicBezTo>
                    <a:pt x="6590030" y="3866515"/>
                    <a:pt x="6994017" y="3463163"/>
                    <a:pt x="6994017" y="2965577"/>
                  </a:cubicBezTo>
                  <a:lnTo>
                    <a:pt x="6994017" y="913638"/>
                  </a:lnTo>
                  <a:cubicBezTo>
                    <a:pt x="6993890" y="416052"/>
                    <a:pt x="6589903" y="12700"/>
                    <a:pt x="6091682" y="12700"/>
                  </a:cubicBezTo>
                  <a:lnTo>
                    <a:pt x="915035" y="12700"/>
                  </a:lnTo>
                  <a:lnTo>
                    <a:pt x="915035" y="6350"/>
                  </a:lnTo>
                  <a:lnTo>
                    <a:pt x="915035" y="12700"/>
                  </a:lnTo>
                  <a:cubicBezTo>
                    <a:pt x="416687" y="12700"/>
                    <a:pt x="12700" y="416052"/>
                    <a:pt x="12700" y="913638"/>
                  </a:cubicBezTo>
                  <a:close/>
                </a:path>
              </a:pathLst>
            </a:custGeom>
            <a:grpFill/>
          </p:spPr>
        </p:sp>
      </p:grpSp>
      <p:sp>
        <p:nvSpPr>
          <p:cNvPr id="8" name="TextBox 8"/>
          <p:cNvSpPr txBox="1"/>
          <p:nvPr/>
        </p:nvSpPr>
        <p:spPr>
          <a:xfrm>
            <a:off x="1106769" y="2899217"/>
            <a:ext cx="3544044" cy="445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3500" b="1" dirty="0">
                <a:ea typeface="Arimo"/>
                <a:cs typeface="Arimo"/>
                <a:sym typeface="Arimo"/>
              </a:rPr>
              <a:t>Summary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34478" y="3518828"/>
            <a:ext cx="4659362" cy="25518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3500" dirty="0" err="1">
                <a:ea typeface="Roboto"/>
                <a:cs typeface="Roboto"/>
                <a:sym typeface="Roboto"/>
              </a:rPr>
              <a:t>DoctorHive</a:t>
            </a:r>
            <a:r>
              <a:rPr lang="en-US" sz="3500" dirty="0">
                <a:ea typeface="Roboto"/>
                <a:cs typeface="Roboto"/>
                <a:sym typeface="Roboto"/>
              </a:rPr>
              <a:t> builds collaborative, debate-driven AI diagnostics, replacing single-agent reasoning with transparent consensus.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6247515" y="2488873"/>
            <a:ext cx="5231944" cy="3784367"/>
            <a:chOff x="0" y="0"/>
            <a:chExt cx="7006630" cy="3879255"/>
          </a:xfrm>
          <a:solidFill>
            <a:schemeClr val="accent3">
              <a:lumMod val="20000"/>
              <a:lumOff val="80000"/>
            </a:schemeClr>
          </a:solidFill>
        </p:grpSpPr>
        <p:sp>
          <p:nvSpPr>
            <p:cNvPr id="11" name="Freeform 11"/>
            <p:cNvSpPr/>
            <p:nvPr/>
          </p:nvSpPr>
          <p:spPr>
            <a:xfrm>
              <a:off x="6350" y="6350"/>
              <a:ext cx="6994017" cy="3866515"/>
            </a:xfrm>
            <a:custGeom>
              <a:avLst/>
              <a:gdLst/>
              <a:ahLst/>
              <a:cxnLst/>
              <a:rect l="l" t="t" r="r" b="b"/>
              <a:pathLst>
                <a:path w="6994017" h="3866515">
                  <a:moveTo>
                    <a:pt x="0" y="907288"/>
                  </a:moveTo>
                  <a:cubicBezTo>
                    <a:pt x="0" y="406273"/>
                    <a:pt x="406781" y="0"/>
                    <a:pt x="908685" y="0"/>
                  </a:cubicBezTo>
                  <a:lnTo>
                    <a:pt x="6085332" y="0"/>
                  </a:lnTo>
                  <a:cubicBezTo>
                    <a:pt x="6587109" y="0"/>
                    <a:pt x="6994017" y="406273"/>
                    <a:pt x="6994017" y="907288"/>
                  </a:cubicBezTo>
                  <a:lnTo>
                    <a:pt x="6994017" y="2959227"/>
                  </a:lnTo>
                  <a:cubicBezTo>
                    <a:pt x="6994017" y="3460369"/>
                    <a:pt x="6587236" y="3866515"/>
                    <a:pt x="6085332" y="3866515"/>
                  </a:cubicBezTo>
                  <a:lnTo>
                    <a:pt x="908685" y="3866515"/>
                  </a:lnTo>
                  <a:cubicBezTo>
                    <a:pt x="406781" y="3866515"/>
                    <a:pt x="0" y="3460369"/>
                    <a:pt x="0" y="2959227"/>
                  </a:cubicBezTo>
                  <a:close/>
                </a:path>
              </a:pathLst>
            </a:custGeom>
            <a:grpFill/>
          </p:spPr>
        </p:sp>
        <p:sp>
          <p:nvSpPr>
            <p:cNvPr id="12" name="Freeform 12"/>
            <p:cNvSpPr/>
            <p:nvPr/>
          </p:nvSpPr>
          <p:spPr>
            <a:xfrm>
              <a:off x="0" y="0"/>
              <a:ext cx="7006717" cy="3879215"/>
            </a:xfrm>
            <a:custGeom>
              <a:avLst/>
              <a:gdLst/>
              <a:ahLst/>
              <a:cxnLst/>
              <a:rect l="l" t="t" r="r" b="b"/>
              <a:pathLst>
                <a:path w="7006717" h="3879215">
                  <a:moveTo>
                    <a:pt x="0" y="913638"/>
                  </a:moveTo>
                  <a:cubicBezTo>
                    <a:pt x="0" y="409067"/>
                    <a:pt x="409702" y="0"/>
                    <a:pt x="915035" y="0"/>
                  </a:cubicBezTo>
                  <a:lnTo>
                    <a:pt x="6091682" y="0"/>
                  </a:lnTo>
                  <a:lnTo>
                    <a:pt x="6091682" y="6350"/>
                  </a:lnTo>
                  <a:lnTo>
                    <a:pt x="6091682" y="0"/>
                  </a:lnTo>
                  <a:cubicBezTo>
                    <a:pt x="6597015" y="0"/>
                    <a:pt x="7006717" y="409067"/>
                    <a:pt x="7006717" y="913638"/>
                  </a:cubicBezTo>
                  <a:lnTo>
                    <a:pt x="7000367" y="913638"/>
                  </a:lnTo>
                  <a:lnTo>
                    <a:pt x="7006717" y="913638"/>
                  </a:lnTo>
                  <a:lnTo>
                    <a:pt x="7006717" y="2965577"/>
                  </a:lnTo>
                  <a:lnTo>
                    <a:pt x="7000367" y="2965577"/>
                  </a:lnTo>
                  <a:lnTo>
                    <a:pt x="7006717" y="2965577"/>
                  </a:lnTo>
                  <a:cubicBezTo>
                    <a:pt x="7006717" y="3470148"/>
                    <a:pt x="6597015" y="3879215"/>
                    <a:pt x="6091682" y="3879215"/>
                  </a:cubicBezTo>
                  <a:lnTo>
                    <a:pt x="6091682" y="3872865"/>
                  </a:lnTo>
                  <a:lnTo>
                    <a:pt x="6091682" y="3879215"/>
                  </a:lnTo>
                  <a:lnTo>
                    <a:pt x="915035" y="3879215"/>
                  </a:lnTo>
                  <a:lnTo>
                    <a:pt x="915035" y="3872865"/>
                  </a:lnTo>
                  <a:lnTo>
                    <a:pt x="915035" y="3879215"/>
                  </a:lnTo>
                  <a:cubicBezTo>
                    <a:pt x="409702" y="3879215"/>
                    <a:pt x="0" y="3470148"/>
                    <a:pt x="0" y="2965577"/>
                  </a:cubicBezTo>
                  <a:lnTo>
                    <a:pt x="0" y="913638"/>
                  </a:lnTo>
                  <a:lnTo>
                    <a:pt x="6350" y="913638"/>
                  </a:lnTo>
                  <a:lnTo>
                    <a:pt x="0" y="913638"/>
                  </a:lnTo>
                  <a:moveTo>
                    <a:pt x="12700" y="913638"/>
                  </a:moveTo>
                  <a:lnTo>
                    <a:pt x="12700" y="2965577"/>
                  </a:lnTo>
                  <a:lnTo>
                    <a:pt x="6350" y="2965577"/>
                  </a:lnTo>
                  <a:lnTo>
                    <a:pt x="12700" y="2965577"/>
                  </a:lnTo>
                  <a:cubicBezTo>
                    <a:pt x="12700" y="3463163"/>
                    <a:pt x="416687" y="3866515"/>
                    <a:pt x="915035" y="3866515"/>
                  </a:cubicBezTo>
                  <a:lnTo>
                    <a:pt x="6091682" y="3866515"/>
                  </a:lnTo>
                  <a:cubicBezTo>
                    <a:pt x="6590030" y="3866515"/>
                    <a:pt x="6994017" y="3463163"/>
                    <a:pt x="6994017" y="2965577"/>
                  </a:cubicBezTo>
                  <a:lnTo>
                    <a:pt x="6994017" y="913638"/>
                  </a:lnTo>
                  <a:cubicBezTo>
                    <a:pt x="6993890" y="416052"/>
                    <a:pt x="6589903" y="12700"/>
                    <a:pt x="6091682" y="12700"/>
                  </a:cubicBezTo>
                  <a:lnTo>
                    <a:pt x="915035" y="12700"/>
                  </a:lnTo>
                  <a:lnTo>
                    <a:pt x="915035" y="6350"/>
                  </a:lnTo>
                  <a:lnTo>
                    <a:pt x="915035" y="12700"/>
                  </a:lnTo>
                  <a:cubicBezTo>
                    <a:pt x="416687" y="12700"/>
                    <a:pt x="12700" y="416052"/>
                    <a:pt x="12700" y="913638"/>
                  </a:cubicBezTo>
                  <a:close/>
                </a:path>
              </a:pathLst>
            </a:custGeom>
            <a:grpFill/>
          </p:spPr>
        </p:sp>
      </p:grpSp>
      <p:sp>
        <p:nvSpPr>
          <p:cNvPr id="13" name="TextBox 13"/>
          <p:cNvSpPr txBox="1"/>
          <p:nvPr/>
        </p:nvSpPr>
        <p:spPr>
          <a:xfrm>
            <a:off x="6650441" y="2865160"/>
            <a:ext cx="3544044" cy="445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3500" b="1" dirty="0">
                <a:ea typeface="Arimo"/>
                <a:cs typeface="Arimo"/>
                <a:sym typeface="Arimo"/>
              </a:rPr>
              <a:t>Current Success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650441" y="3687866"/>
            <a:ext cx="4659362" cy="1282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3500" dirty="0">
                <a:ea typeface="Roboto"/>
                <a:cs typeface="Roboto"/>
                <a:sym typeface="Roboto"/>
              </a:rPr>
              <a:t>Completed specialist agents, orchestration, and debate modules.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1781576" y="2488873"/>
            <a:ext cx="5514187" cy="3784328"/>
            <a:chOff x="0" y="0"/>
            <a:chExt cx="7006630" cy="3879255"/>
          </a:xfrm>
          <a:solidFill>
            <a:schemeClr val="accent3">
              <a:lumMod val="20000"/>
              <a:lumOff val="80000"/>
            </a:schemeClr>
          </a:solidFill>
        </p:grpSpPr>
        <p:sp>
          <p:nvSpPr>
            <p:cNvPr id="16" name="Freeform 16"/>
            <p:cNvSpPr/>
            <p:nvPr/>
          </p:nvSpPr>
          <p:spPr>
            <a:xfrm>
              <a:off x="6350" y="6350"/>
              <a:ext cx="6994017" cy="3866515"/>
            </a:xfrm>
            <a:custGeom>
              <a:avLst/>
              <a:gdLst/>
              <a:ahLst/>
              <a:cxnLst/>
              <a:rect l="l" t="t" r="r" b="b"/>
              <a:pathLst>
                <a:path w="6994017" h="3866515">
                  <a:moveTo>
                    <a:pt x="0" y="907288"/>
                  </a:moveTo>
                  <a:cubicBezTo>
                    <a:pt x="0" y="406273"/>
                    <a:pt x="406781" y="0"/>
                    <a:pt x="908685" y="0"/>
                  </a:cubicBezTo>
                  <a:lnTo>
                    <a:pt x="6085332" y="0"/>
                  </a:lnTo>
                  <a:cubicBezTo>
                    <a:pt x="6587109" y="0"/>
                    <a:pt x="6994017" y="406273"/>
                    <a:pt x="6994017" y="907288"/>
                  </a:cubicBezTo>
                  <a:lnTo>
                    <a:pt x="6994017" y="2959227"/>
                  </a:lnTo>
                  <a:cubicBezTo>
                    <a:pt x="6994017" y="3460369"/>
                    <a:pt x="6587236" y="3866515"/>
                    <a:pt x="6085332" y="3866515"/>
                  </a:cubicBezTo>
                  <a:lnTo>
                    <a:pt x="908685" y="3866515"/>
                  </a:lnTo>
                  <a:cubicBezTo>
                    <a:pt x="406781" y="3866515"/>
                    <a:pt x="0" y="3460369"/>
                    <a:pt x="0" y="2959227"/>
                  </a:cubicBezTo>
                  <a:close/>
                </a:path>
              </a:pathLst>
            </a:custGeom>
            <a:grpFill/>
          </p:spPr>
        </p:sp>
        <p:sp>
          <p:nvSpPr>
            <p:cNvPr id="17" name="Freeform 17"/>
            <p:cNvSpPr/>
            <p:nvPr/>
          </p:nvSpPr>
          <p:spPr>
            <a:xfrm>
              <a:off x="0" y="0"/>
              <a:ext cx="7006717" cy="3879215"/>
            </a:xfrm>
            <a:custGeom>
              <a:avLst/>
              <a:gdLst/>
              <a:ahLst/>
              <a:cxnLst/>
              <a:rect l="l" t="t" r="r" b="b"/>
              <a:pathLst>
                <a:path w="7006717" h="3879215">
                  <a:moveTo>
                    <a:pt x="0" y="913638"/>
                  </a:moveTo>
                  <a:cubicBezTo>
                    <a:pt x="0" y="409067"/>
                    <a:pt x="409702" y="0"/>
                    <a:pt x="915035" y="0"/>
                  </a:cubicBezTo>
                  <a:lnTo>
                    <a:pt x="6091682" y="0"/>
                  </a:lnTo>
                  <a:lnTo>
                    <a:pt x="6091682" y="6350"/>
                  </a:lnTo>
                  <a:lnTo>
                    <a:pt x="6091682" y="0"/>
                  </a:lnTo>
                  <a:cubicBezTo>
                    <a:pt x="6597015" y="0"/>
                    <a:pt x="7006717" y="409067"/>
                    <a:pt x="7006717" y="913638"/>
                  </a:cubicBezTo>
                  <a:lnTo>
                    <a:pt x="7000367" y="913638"/>
                  </a:lnTo>
                  <a:lnTo>
                    <a:pt x="7006717" y="913638"/>
                  </a:lnTo>
                  <a:lnTo>
                    <a:pt x="7006717" y="2965577"/>
                  </a:lnTo>
                  <a:lnTo>
                    <a:pt x="7000367" y="2965577"/>
                  </a:lnTo>
                  <a:lnTo>
                    <a:pt x="7006717" y="2965577"/>
                  </a:lnTo>
                  <a:cubicBezTo>
                    <a:pt x="7006717" y="3470148"/>
                    <a:pt x="6597015" y="3879215"/>
                    <a:pt x="6091682" y="3879215"/>
                  </a:cubicBezTo>
                  <a:lnTo>
                    <a:pt x="6091682" y="3872865"/>
                  </a:lnTo>
                  <a:lnTo>
                    <a:pt x="6091682" y="3879215"/>
                  </a:lnTo>
                  <a:lnTo>
                    <a:pt x="915035" y="3879215"/>
                  </a:lnTo>
                  <a:lnTo>
                    <a:pt x="915035" y="3872865"/>
                  </a:lnTo>
                  <a:lnTo>
                    <a:pt x="915035" y="3879215"/>
                  </a:lnTo>
                  <a:cubicBezTo>
                    <a:pt x="409702" y="3879215"/>
                    <a:pt x="0" y="3470148"/>
                    <a:pt x="0" y="2965577"/>
                  </a:cubicBezTo>
                  <a:lnTo>
                    <a:pt x="0" y="913638"/>
                  </a:lnTo>
                  <a:lnTo>
                    <a:pt x="6350" y="913638"/>
                  </a:lnTo>
                  <a:lnTo>
                    <a:pt x="0" y="913638"/>
                  </a:lnTo>
                  <a:moveTo>
                    <a:pt x="12700" y="913638"/>
                  </a:moveTo>
                  <a:lnTo>
                    <a:pt x="12700" y="2965577"/>
                  </a:lnTo>
                  <a:lnTo>
                    <a:pt x="6350" y="2965577"/>
                  </a:lnTo>
                  <a:lnTo>
                    <a:pt x="12700" y="2965577"/>
                  </a:lnTo>
                  <a:cubicBezTo>
                    <a:pt x="12700" y="3463163"/>
                    <a:pt x="416687" y="3866515"/>
                    <a:pt x="915035" y="3866515"/>
                  </a:cubicBezTo>
                  <a:lnTo>
                    <a:pt x="6091682" y="3866515"/>
                  </a:lnTo>
                  <a:cubicBezTo>
                    <a:pt x="6590030" y="3866515"/>
                    <a:pt x="6994017" y="3463163"/>
                    <a:pt x="6994017" y="2965577"/>
                  </a:cubicBezTo>
                  <a:lnTo>
                    <a:pt x="6994017" y="913638"/>
                  </a:lnTo>
                  <a:cubicBezTo>
                    <a:pt x="6993890" y="416052"/>
                    <a:pt x="6589903" y="12700"/>
                    <a:pt x="6091682" y="12700"/>
                  </a:cubicBezTo>
                  <a:lnTo>
                    <a:pt x="915035" y="12700"/>
                  </a:lnTo>
                  <a:lnTo>
                    <a:pt x="915035" y="6350"/>
                  </a:lnTo>
                  <a:lnTo>
                    <a:pt x="915035" y="12700"/>
                  </a:lnTo>
                  <a:cubicBezTo>
                    <a:pt x="416687" y="12700"/>
                    <a:pt x="12700" y="416052"/>
                    <a:pt x="12700" y="913638"/>
                  </a:cubicBezTo>
                  <a:close/>
                </a:path>
              </a:pathLst>
            </a:custGeom>
            <a:grpFill/>
          </p:spPr>
        </p:sp>
      </p:grpSp>
      <p:sp>
        <p:nvSpPr>
          <p:cNvPr id="18" name="TextBox 18"/>
          <p:cNvSpPr txBox="1"/>
          <p:nvPr/>
        </p:nvSpPr>
        <p:spPr>
          <a:xfrm>
            <a:off x="12164629" y="2880747"/>
            <a:ext cx="3544044" cy="445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3500" b="1" dirty="0">
                <a:ea typeface="Arimo"/>
                <a:cs typeface="Arimo"/>
                <a:sym typeface="Arimo"/>
              </a:rPr>
              <a:t>Future Impact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041355" y="3537428"/>
            <a:ext cx="4947362" cy="21286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3500" dirty="0">
                <a:ea typeface="Roboto"/>
                <a:cs typeface="Roboto"/>
                <a:sym typeface="Roboto"/>
              </a:rPr>
              <a:t>Consensus reasoning, RAG validation, and patient-facing deployment for accessible, trustworthy healthcare AI.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85801" y="7074670"/>
            <a:ext cx="17143361" cy="1589088"/>
          </a:xfrm>
          <a:prstGeom prst="roundRect">
            <a:avLst/>
          </a:prstGeom>
          <a:solidFill>
            <a:schemeClr val="bg1"/>
          </a:solidFill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562"/>
              </a:lnSpc>
            </a:pPr>
            <a:r>
              <a:rPr lang="en-US" sz="4800" b="1" dirty="0">
                <a:latin typeface="Arial" panose="020B0604020202020204" pitchFamily="34" charset="0"/>
                <a:ea typeface="Arimo"/>
                <a:cs typeface="Arial" panose="020B0604020202020204" pitchFamily="34" charset="0"/>
                <a:sym typeface="Arimo"/>
              </a:rPr>
              <a:t>"</a:t>
            </a:r>
            <a:r>
              <a:rPr lang="en-US" sz="4800" b="1" dirty="0" err="1">
                <a:latin typeface="Arial" panose="020B0604020202020204" pitchFamily="34" charset="0"/>
                <a:ea typeface="Arimo"/>
                <a:cs typeface="Arial" panose="020B0604020202020204" pitchFamily="34" charset="0"/>
                <a:sym typeface="Arimo"/>
              </a:rPr>
              <a:t>DoctorHive</a:t>
            </a:r>
            <a:r>
              <a:rPr lang="en-US" sz="4800" b="1" dirty="0">
                <a:latin typeface="Arial" panose="020B0604020202020204" pitchFamily="34" charset="0"/>
                <a:ea typeface="Arimo"/>
                <a:cs typeface="Arial" panose="020B0604020202020204" pitchFamily="34" charset="0"/>
                <a:sym typeface="Arimo"/>
              </a:rPr>
              <a:t> — a conversation among doctors inside one AI."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Thank You Presentation Vector Images (over 1,100)">
            <a:extLst>
              <a:ext uri="{FF2B5EF4-FFF2-40B4-BE49-F238E27FC236}">
                <a16:creationId xmlns:a16="http://schemas.microsoft.com/office/drawing/2014/main" id="{B6C66D80-64B8-4EA9-900E-B971E53256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8288000" cy="102857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948559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363</TotalTime>
  <Words>850</Words>
  <Application>Microsoft Office PowerPoint</Application>
  <PresentationFormat>Custom</PresentationFormat>
  <Paragraphs>175</Paragraphs>
  <Slides>13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Roboto</vt:lpstr>
      <vt:lpstr>Arial Black</vt:lpstr>
      <vt:lpstr>Arial</vt:lpstr>
      <vt:lpstr>Calibri</vt:lpstr>
      <vt:lpstr>Office Theme</vt:lpstr>
      <vt:lpstr>PowerPoint Presentation</vt:lpstr>
      <vt:lpstr>Table of Contents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DoctorHive-A-Multi-Agent-Specialist-Consultation-System (2).pptx</dc:title>
  <dc:creator>Admin</dc:creator>
  <cp:lastModifiedBy>abdul</cp:lastModifiedBy>
  <cp:revision>42</cp:revision>
  <dcterms:created xsi:type="dcterms:W3CDTF">2006-08-16T00:00:00Z</dcterms:created>
  <dcterms:modified xsi:type="dcterms:W3CDTF">2025-10-24T11:23:34Z</dcterms:modified>
  <dc:identifier>DAG2V0C48pw</dc:identifier>
</cp:coreProperties>
</file>